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Detailní pohled na backend. Každý slajd = jedna technologie: role, k čemu slouží, jak ji v DriveWise používáme, reálná ukázka z repozitáře a kde ji v kódu najít.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Barvy odpovídají legendě z architektonické prezentace: zelená = UI, žlutá = AI, šedá = backend bez AI. Modrá je navíc pro testovací nástroje.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Python 3.11+ je závazný stack podle CLAUDE.md. Typové anotace nejsou jen dokumentace – FastAPI z nich skládá validaci, SQLAlchemy 2 mapování sloupců.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Uvicorn je jediný vstupní bod. Za reverzní proxy je potřeba zapnout předávání IP adresy (rate limit přihlášení podle IP) – viz backend/README.md.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Business logika je vždy v app/services – route handler je tenká vrstva. Kontrakt REST API je v doc/api-contract.md a schémata mu musí odpovídat.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Když AI vrátí JSON, Pydantic ho zvaliduje – nevalidní odpověď se nedostane do enginu. AI nikdy nečte databázi ani neřadí, jen vyplní tento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SQLAlchemy je sdílená závislost backendu i scraperu. Schéma musí zůstat dual-dialect: žádné DDL jen pro Postgres bez SQLite ekvivalentu.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Alembic je zdroj pravdy pro historii schématu. Testy schéma vytváří přímo přes Base.metadata.create_all(), migrace nespouští.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SQLite je dočasné výchozí řešení. Cílová produkční databáze je PostgreSQL (další slajd).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Psycopg se načítá jen tehdy, když URL začíná postgresql+psycopg. Proto je v requirements, i když lokálně běží SQLite.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Chybějící API klíč vybraného providera má selhat hlasitě, ne tiše vypnout AI. Admin může klíč zadat i za běhu v UI – drží se jen v paměti procesu.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pomáhá, nerozhoduje: pořadí vozů počítá deterministický recommendation_engine. Claude jen extrahuje požadavky a formuluje vysvětlení.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Nic mimo app/ai/client.py neví, který provider je aktivní. Chování promptů na Groq modelech je méně přesné než na Claude.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Každé připojení prohlížeče dostane vlastní volání index(), takže lokální proměnné jsou per-connection a globální store není potřeba.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Tailwind nahradil původní React/Vite frontend. Tokeny zůstaly stejné, jen žijí v Pythonu.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Texty UI jdou přes t()/t_count() v app/ui/i18n.py; Babel řeší jen čísla a měny.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Při startu log_email_backend_status() vypíše, jak se kódy budou doručovat – zapomenuté EMAIL_BACKEND=smtp je vidět hned.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Změna poskytovatele = jen jiné hodnoty SMTP_*. mailer.py neví, kam je nasměrovaný. Přijetí zprávy serverem ještě neznamená doručení do schránky.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certifi je pinovaná, pravidelně aktualizovaná závislost – proto je spolehlivější než systémové úložiště certifikátů.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Jen 10^6 možností – prostý hash by šel zvrátit okamžitě, proto HMAC s tajným klíčem.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seed_demo_data() plní testovací i vývojovou DB stejnými reálnými daty (Mazda CX-5, VW Tiguan).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Testy UI jsou v backend/tests/ui/. Celá sada: 170 testovacích funkcí napříč backendem.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httpx je v requirements-dev.txt výslovně kvůli TestClientu.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Díky tomu se testuje skutečná komunikace přes socket, ne jen mock smtplib.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882127" y="1152144"/>
            <a:ext cx="3291840" cy="329184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E0A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641080" y="1911095"/>
            <a:ext cx="2020824" cy="202082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E0A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774936" y="1591056"/>
            <a:ext cx="612648" cy="612648"/>
          </a:xfrm>
          <a:prstGeom prst="roundRect">
            <a:avLst>
              <a:gd name="adj" fmla="val 50000"/>
            </a:avLst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3816" y="2276856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 spc="200">
                <a:solidFill>
                  <a:srgbClr val="E0A526"/>
                </a:solidFill>
                <a:latin typeface="IBM Plex Sans"/>
              </a:rPr>
              <a:t>BACKEND ZEVNITŘ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" y="2734056"/>
            <a:ext cx="10881360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600" b="1" i="0">
                <a:solidFill>
                  <a:srgbClr val="F3F1EA"/>
                </a:solidFill>
                <a:latin typeface="IBM Plex Sans"/>
              </a:rPr>
              <a:t>DriveWise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" y="3895344"/>
            <a:ext cx="6766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A9B4C6"/>
                </a:solidFill>
                <a:latin typeface="IBM Plex Sans"/>
              </a:rPr>
              <a:t>Každá technologie a knihovna backendu na jednom slajdu: k čemu slouží a jak ji v projektu používáme.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" y="6016752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9B4C6"/>
                </a:solidFill>
                <a:latin typeface="IBM Plex Sans"/>
              </a:rPr>
              <a:t>Stav k 22. 9. 2026 · backend/ + scripts/ · 22 technologií a služeb · navazuje na prezentaci Architektura DriveWise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3816" y="658368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13D"/>
                </a:solidFill>
                <a:latin typeface="IBM Plex Sans"/>
              </a:rPr>
              <a:t>Mapa technologií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1243584"/>
            <a:ext cx="10607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56607A"/>
                </a:solidFill>
                <a:latin typeface="IBM Plex Sans"/>
              </a:rPr>
              <a:t>Šest oblastí, jeden Python proces. Číslo u položky je číslo slajdu.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3816" y="1828800"/>
            <a:ext cx="3401568" cy="2057400"/>
          </a:xfrm>
          <a:prstGeom prst="roundRect">
            <a:avLst>
              <a:gd name="adj" fmla="val 5000"/>
            </a:avLst>
          </a:prstGeom>
          <a:solidFill>
            <a:srgbClr val="E4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" y="2011680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50">
                <a:solidFill>
                  <a:srgbClr val="3A4665"/>
                </a:solidFill>
                <a:latin typeface="IBM Plex Sans"/>
              </a:rPr>
              <a:t>BĚH A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" y="2359152"/>
            <a:ext cx="2944368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0" i="0">
                <a:solidFill>
                  <a:srgbClr val="14213D"/>
                </a:solidFill>
                <a:latin typeface="IBM Plex Sans"/>
              </a:rPr>
              <a:t>Python 3.11+</a:t>
            </a:r>
            <a:r>
              <a:rPr sz="1100" b="1" i="0">
                <a:solidFill>
                  <a:srgbClr val="3A4665"/>
                </a:solidFill>
                <a:latin typeface="IBM Plex Sans"/>
              </a:rPr>
              <a:t>  3</a:t>
            </a:r>
          </a:p>
          <a:p>
            <a:pPr algn="l">
              <a:spcAft>
                <a:spcPts val="300"/>
              </a:spcAft>
            </a:pPr>
            <a:r>
              <a:rPr sz="1450" b="0" i="0">
                <a:solidFill>
                  <a:srgbClr val="14213D"/>
                </a:solidFill>
                <a:latin typeface="IBM Plex Sans"/>
              </a:rPr>
              <a:t>Uvicorn</a:t>
            </a:r>
            <a:r>
              <a:rPr sz="1100" b="1" i="0">
                <a:solidFill>
                  <a:srgbClr val="3A4665"/>
                </a:solidFill>
                <a:latin typeface="IBM Plex Sans"/>
              </a:rPr>
              <a:t>  4</a:t>
            </a:r>
          </a:p>
          <a:p>
            <a:pPr algn="l">
              <a:spcAft>
                <a:spcPts val="300"/>
              </a:spcAft>
            </a:pPr>
            <a:r>
              <a:rPr sz="1450" b="0" i="0">
                <a:solidFill>
                  <a:srgbClr val="14213D"/>
                </a:solidFill>
                <a:latin typeface="IBM Plex Sans"/>
              </a:rPr>
              <a:t>FastAPI</a:t>
            </a:r>
            <a:r>
              <a:rPr sz="1100" b="1" i="0">
                <a:solidFill>
                  <a:srgbClr val="3A4665"/>
                </a:solidFill>
                <a:latin typeface="IBM Plex Sans"/>
              </a:rPr>
              <a:t> 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8264" y="1828800"/>
            <a:ext cx="3401568" cy="2057400"/>
          </a:xfrm>
          <a:prstGeom prst="roundRect">
            <a:avLst>
              <a:gd name="adj" fmla="val 5000"/>
            </a:avLst>
          </a:prstGeom>
          <a:solidFill>
            <a:srgbClr val="E4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26864" y="2011680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50">
                <a:solidFill>
                  <a:srgbClr val="3A4665"/>
                </a:solidFill>
                <a:latin typeface="IBM Plex Sans"/>
              </a:rPr>
              <a:t>DATA A VALIDACE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26864" y="2359152"/>
            <a:ext cx="2944368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0" i="0">
                <a:solidFill>
                  <a:srgbClr val="14213D"/>
                </a:solidFill>
                <a:latin typeface="IBM Plex Sans"/>
              </a:rPr>
              <a:t>Pydantic v2</a:t>
            </a:r>
            <a:r>
              <a:rPr sz="1100" b="1" i="0">
                <a:solidFill>
                  <a:srgbClr val="3A4665"/>
                </a:solidFill>
                <a:latin typeface="IBM Plex Sans"/>
              </a:rPr>
              <a:t>  6</a:t>
            </a:r>
          </a:p>
          <a:p>
            <a:pPr algn="l">
              <a:spcAft>
                <a:spcPts val="300"/>
              </a:spcAft>
            </a:pPr>
            <a:r>
              <a:rPr sz="1450" b="0" i="0">
                <a:solidFill>
                  <a:srgbClr val="14213D"/>
                </a:solidFill>
                <a:latin typeface="IBM Plex Sans"/>
              </a:rPr>
              <a:t>SQLAlchemy 2</a:t>
            </a:r>
            <a:r>
              <a:rPr sz="1100" b="1" i="0">
                <a:solidFill>
                  <a:srgbClr val="3A4665"/>
                </a:solidFill>
                <a:latin typeface="IBM Plex Sans"/>
              </a:rPr>
              <a:t>  7</a:t>
            </a:r>
          </a:p>
          <a:p>
            <a:pPr algn="l">
              <a:spcAft>
                <a:spcPts val="300"/>
              </a:spcAft>
            </a:pPr>
            <a:r>
              <a:rPr sz="1450" b="0" i="0">
                <a:solidFill>
                  <a:srgbClr val="14213D"/>
                </a:solidFill>
                <a:latin typeface="IBM Plex Sans"/>
              </a:rPr>
              <a:t>Alembic</a:t>
            </a:r>
            <a:r>
              <a:rPr sz="1100" b="1" i="0">
                <a:solidFill>
                  <a:srgbClr val="3A4665"/>
                </a:solidFill>
                <a:latin typeface="IBM Plex Sans"/>
              </a:rPr>
              <a:t>  8</a:t>
            </a:r>
          </a:p>
          <a:p>
            <a:pPr algn="l">
              <a:spcAft>
                <a:spcPts val="300"/>
              </a:spcAft>
            </a:pPr>
            <a:r>
              <a:rPr sz="1450" b="0" i="0">
                <a:solidFill>
                  <a:srgbClr val="14213D"/>
                </a:solidFill>
                <a:latin typeface="IBM Plex Sans"/>
              </a:rPr>
              <a:t>SQLite</a:t>
            </a:r>
            <a:r>
              <a:rPr sz="1100" b="1" i="0">
                <a:solidFill>
                  <a:srgbClr val="3A4665"/>
                </a:solidFill>
                <a:latin typeface="IBM Plex Sans"/>
              </a:rPr>
              <a:t>  9</a:t>
            </a:r>
          </a:p>
          <a:p>
            <a:pPr algn="l">
              <a:spcAft>
                <a:spcPts val="300"/>
              </a:spcAft>
            </a:pPr>
            <a:r>
              <a:rPr sz="1450" b="0" i="0">
                <a:solidFill>
                  <a:srgbClr val="14213D"/>
                </a:solidFill>
                <a:latin typeface="IBM Plex Sans"/>
              </a:rPr>
              <a:t>PostgreSQL + psycopg</a:t>
            </a:r>
            <a:r>
              <a:rPr sz="1100" b="1" i="0">
                <a:solidFill>
                  <a:srgbClr val="3A4665"/>
                </a:solidFill>
                <a:latin typeface="IBM Plex Sans"/>
              </a:rPr>
              <a:t> 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82712" y="1828800"/>
            <a:ext cx="3401568" cy="2057400"/>
          </a:xfrm>
          <a:prstGeom prst="roundRect">
            <a:avLst>
              <a:gd name="adj" fmla="val 5000"/>
            </a:avLst>
          </a:prstGeom>
          <a:solidFill>
            <a:srgbClr val="F6E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2011680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50">
                <a:solidFill>
                  <a:srgbClr val="8A5A00"/>
                </a:solidFill>
                <a:latin typeface="IBM Plex Sans"/>
              </a:rPr>
              <a:t>AI VRSTVA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1312" y="2359152"/>
            <a:ext cx="2944368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0" i="0">
                <a:solidFill>
                  <a:srgbClr val="14213D"/>
                </a:solidFill>
                <a:latin typeface="IBM Plex Sans"/>
              </a:rPr>
              <a:t>Anthropic SDK</a:t>
            </a:r>
            <a:r>
              <a:rPr sz="1100" b="1" i="0">
                <a:solidFill>
                  <a:srgbClr val="8A5A00"/>
                </a:solidFill>
                <a:latin typeface="IBM Plex Sans"/>
              </a:rPr>
              <a:t>  12</a:t>
            </a:r>
          </a:p>
          <a:p>
            <a:pPr algn="l">
              <a:spcAft>
                <a:spcPts val="300"/>
              </a:spcAft>
            </a:pPr>
            <a:r>
              <a:rPr sz="1450" b="0" i="0">
                <a:solidFill>
                  <a:srgbClr val="14213D"/>
                </a:solidFill>
                <a:latin typeface="IBM Plex Sans"/>
              </a:rPr>
              <a:t>Groq SDK</a:t>
            </a:r>
            <a:r>
              <a:rPr sz="1100" b="1" i="0">
                <a:solidFill>
                  <a:srgbClr val="8A5A00"/>
                </a:solidFill>
                <a:latin typeface="IBM Plex Sans"/>
              </a:rPr>
              <a:t>  13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" y="4114800"/>
            <a:ext cx="3401568" cy="2057400"/>
          </a:xfrm>
          <a:prstGeom prst="roundRect">
            <a:avLst>
              <a:gd name="adj" fmla="val 5000"/>
            </a:avLst>
          </a:prstGeom>
          <a:solidFill>
            <a:srgbClr val="D8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2416" y="4297680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50">
                <a:solidFill>
                  <a:srgbClr val="0B7A6E"/>
                </a:solidFill>
                <a:latin typeface="IBM Plex Sans"/>
              </a:rPr>
              <a:t>UI V PROCESU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" y="4645152"/>
            <a:ext cx="2944368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0" i="0">
                <a:solidFill>
                  <a:srgbClr val="14213D"/>
                </a:solidFill>
                <a:latin typeface="IBM Plex Sans"/>
              </a:rPr>
              <a:t>NiceGUI</a:t>
            </a:r>
            <a:r>
              <a:rPr sz="1100" b="1" i="0">
                <a:solidFill>
                  <a:srgbClr val="0B7A6E"/>
                </a:solidFill>
                <a:latin typeface="IBM Plex Sans"/>
              </a:rPr>
              <a:t>  14</a:t>
            </a:r>
          </a:p>
          <a:p>
            <a:pPr algn="l">
              <a:spcAft>
                <a:spcPts val="300"/>
              </a:spcAft>
            </a:pPr>
            <a:r>
              <a:rPr sz="1450" b="0" i="0">
                <a:solidFill>
                  <a:srgbClr val="14213D"/>
                </a:solidFill>
                <a:latin typeface="IBM Plex Sans"/>
              </a:rPr>
              <a:t>Tailwind CSS</a:t>
            </a:r>
            <a:r>
              <a:rPr sz="1100" b="1" i="0">
                <a:solidFill>
                  <a:srgbClr val="0B7A6E"/>
                </a:solidFill>
                <a:latin typeface="IBM Plex Sans"/>
              </a:rPr>
              <a:t>  15</a:t>
            </a:r>
          </a:p>
          <a:p>
            <a:pPr algn="l">
              <a:spcAft>
                <a:spcPts val="300"/>
              </a:spcAft>
            </a:pPr>
            <a:r>
              <a:rPr sz="1450" b="0" i="0">
                <a:solidFill>
                  <a:srgbClr val="14213D"/>
                </a:solidFill>
                <a:latin typeface="IBM Plex Sans"/>
              </a:rPr>
              <a:t>Babel</a:t>
            </a:r>
            <a:r>
              <a:rPr sz="1100" b="1" i="0">
                <a:solidFill>
                  <a:srgbClr val="0B7A6E"/>
                </a:solidFill>
                <a:latin typeface="IBM Plex Sans"/>
              </a:rPr>
              <a:t>  16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98264" y="4114800"/>
            <a:ext cx="3401568" cy="2057400"/>
          </a:xfrm>
          <a:prstGeom prst="roundRect">
            <a:avLst>
              <a:gd name="adj" fmla="val 5000"/>
            </a:avLst>
          </a:prstGeom>
          <a:solidFill>
            <a:srgbClr val="E4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26864" y="4297680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50">
                <a:solidFill>
                  <a:srgbClr val="3A4665"/>
                </a:solidFill>
                <a:latin typeface="IBM Plex Sans"/>
              </a:rPr>
              <a:t>KONFIGURACE A E-MAIL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6864" y="4645152"/>
            <a:ext cx="2944368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0" i="0">
                <a:solidFill>
                  <a:srgbClr val="14213D"/>
                </a:solidFill>
                <a:latin typeface="IBM Plex Sans"/>
              </a:rPr>
              <a:t>python-dotenv</a:t>
            </a:r>
            <a:r>
              <a:rPr sz="1100" b="1" i="0">
                <a:solidFill>
                  <a:srgbClr val="3A4665"/>
                </a:solidFill>
                <a:latin typeface="IBM Plex Sans"/>
              </a:rPr>
              <a:t>  11</a:t>
            </a:r>
          </a:p>
          <a:p>
            <a:pPr algn="l">
              <a:spcAft>
                <a:spcPts val="300"/>
              </a:spcAft>
            </a:pPr>
            <a:r>
              <a:rPr sz="1450" b="0" i="0">
                <a:solidFill>
                  <a:srgbClr val="14213D"/>
                </a:solidFill>
                <a:latin typeface="IBM Plex Sans"/>
              </a:rPr>
              <a:t>smtplib + email</a:t>
            </a:r>
            <a:r>
              <a:rPr sz="1100" b="1" i="0">
                <a:solidFill>
                  <a:srgbClr val="3A4665"/>
                </a:solidFill>
                <a:latin typeface="IBM Plex Sans"/>
              </a:rPr>
              <a:t>  17</a:t>
            </a:r>
          </a:p>
          <a:p>
            <a:pPr algn="l">
              <a:spcAft>
                <a:spcPts val="300"/>
              </a:spcAft>
            </a:pPr>
            <a:r>
              <a:rPr sz="1450" b="0" i="0">
                <a:solidFill>
                  <a:srgbClr val="14213D"/>
                </a:solidFill>
                <a:latin typeface="IBM Plex Sans"/>
              </a:rPr>
              <a:t>SMTP poskytovatelé</a:t>
            </a:r>
            <a:r>
              <a:rPr sz="1100" b="1" i="0">
                <a:solidFill>
                  <a:srgbClr val="3A4665"/>
                </a:solidFill>
                <a:latin typeface="IBM Plex Sans"/>
              </a:rPr>
              <a:t>  18</a:t>
            </a:r>
          </a:p>
          <a:p>
            <a:pPr algn="l">
              <a:spcAft>
                <a:spcPts val="300"/>
              </a:spcAft>
            </a:pPr>
            <a:r>
              <a:rPr sz="1450" b="0" i="0">
                <a:solidFill>
                  <a:srgbClr val="14213D"/>
                </a:solidFill>
                <a:latin typeface="IBM Plex Sans"/>
              </a:rPr>
              <a:t>certifi</a:t>
            </a:r>
            <a:r>
              <a:rPr sz="1100" b="1" i="0">
                <a:solidFill>
                  <a:srgbClr val="3A4665"/>
                </a:solidFill>
                <a:latin typeface="IBM Plex Sans"/>
              </a:rPr>
              <a:t>  19</a:t>
            </a:r>
          </a:p>
          <a:p>
            <a:pPr algn="l">
              <a:spcAft>
                <a:spcPts val="300"/>
              </a:spcAft>
            </a:pPr>
            <a:r>
              <a:rPr sz="1450" b="0" i="0">
                <a:solidFill>
                  <a:srgbClr val="14213D"/>
                </a:solidFill>
                <a:latin typeface="IBM Plex Sans"/>
              </a:rPr>
              <a:t>hmac + secrets</a:t>
            </a:r>
            <a:r>
              <a:rPr sz="1100" b="1" i="0">
                <a:solidFill>
                  <a:srgbClr val="3A4665"/>
                </a:solidFill>
                <a:latin typeface="IBM Plex Sans"/>
              </a:rPr>
              <a:t>  20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82712" y="4114800"/>
            <a:ext cx="3401568" cy="2057400"/>
          </a:xfrm>
          <a:prstGeom prst="roundRect">
            <a:avLst>
              <a:gd name="adj" fmla="val 5000"/>
            </a:avLst>
          </a:prstGeom>
          <a:solidFill>
            <a:srgbClr val="DD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1312" y="4297680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50">
                <a:solidFill>
                  <a:srgbClr val="2B3F73"/>
                </a:solidFill>
                <a:latin typeface="IBM Plex Sans"/>
              </a:rPr>
              <a:t>TESTY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1312" y="4645152"/>
            <a:ext cx="2944368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0" i="0">
                <a:solidFill>
                  <a:srgbClr val="14213D"/>
                </a:solidFill>
                <a:latin typeface="IBM Plex Sans"/>
              </a:rPr>
              <a:t>pytest</a:t>
            </a:r>
            <a:r>
              <a:rPr sz="1100" b="1" i="0">
                <a:solidFill>
                  <a:srgbClr val="2B3F73"/>
                </a:solidFill>
                <a:latin typeface="IBM Plex Sans"/>
              </a:rPr>
              <a:t>  21</a:t>
            </a:r>
          </a:p>
          <a:p>
            <a:pPr algn="l">
              <a:spcAft>
                <a:spcPts val="300"/>
              </a:spcAft>
            </a:pPr>
            <a:r>
              <a:rPr sz="1450" b="0" i="0">
                <a:solidFill>
                  <a:srgbClr val="14213D"/>
                </a:solidFill>
                <a:latin typeface="IBM Plex Sans"/>
              </a:rPr>
              <a:t>pytest-asyncio</a:t>
            </a:r>
            <a:r>
              <a:rPr sz="1100" b="1" i="0">
                <a:solidFill>
                  <a:srgbClr val="2B3F73"/>
                </a:solidFill>
                <a:latin typeface="IBM Plex Sans"/>
              </a:rPr>
              <a:t>  22</a:t>
            </a:r>
          </a:p>
          <a:p>
            <a:pPr algn="l">
              <a:spcAft>
                <a:spcPts val="300"/>
              </a:spcAft>
            </a:pPr>
            <a:r>
              <a:rPr sz="1450" b="0" i="0">
                <a:solidFill>
                  <a:srgbClr val="14213D"/>
                </a:solidFill>
                <a:latin typeface="IBM Plex Sans"/>
              </a:rPr>
              <a:t>httpx</a:t>
            </a:r>
            <a:r>
              <a:rPr sz="1100" b="1" i="0">
                <a:solidFill>
                  <a:srgbClr val="2B3F73"/>
                </a:solidFill>
                <a:latin typeface="IBM Plex Sans"/>
              </a:rPr>
              <a:t>  23</a:t>
            </a:r>
          </a:p>
          <a:p>
            <a:pPr algn="l">
              <a:spcAft>
                <a:spcPts val="300"/>
              </a:spcAft>
            </a:pPr>
            <a:r>
              <a:rPr sz="1450" b="0" i="0">
                <a:solidFill>
                  <a:srgbClr val="14213D"/>
                </a:solidFill>
                <a:latin typeface="IBM Plex Sans"/>
              </a:rPr>
              <a:t>cryptography</a:t>
            </a:r>
            <a:r>
              <a:rPr sz="1100" b="1" i="0">
                <a:solidFill>
                  <a:srgbClr val="2B3F73"/>
                </a:solidFill>
                <a:latin typeface="IBM Plex Sans"/>
              </a:rPr>
              <a:t>  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" y="632764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6607A"/>
                </a:solidFill>
                <a:latin typeface="IBM Plex Sans"/>
              </a:rPr>
              <a:t>DriveWise AI · Backend ·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13816" y="502920"/>
            <a:ext cx="2093976" cy="274320"/>
          </a:xfrm>
          <a:prstGeom prst="roundRect">
            <a:avLst>
              <a:gd name="adj" fmla="val 50000"/>
            </a:avLst>
          </a:prstGeom>
          <a:solidFill>
            <a:srgbClr val="E4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3816" y="502920"/>
            <a:ext cx="2093976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 spc="100">
                <a:solidFill>
                  <a:srgbClr val="3A4665"/>
                </a:solidFill>
                <a:latin typeface="IBM Plex Sans"/>
              </a:rPr>
              <a:t>BĚH A WEB · ZÁKLAD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896112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13D"/>
                </a:solidFill>
                <a:latin typeface="IBM Plex Sans"/>
              </a:rPr>
              <a:t>Python</a:t>
            </a:r>
            <a:r>
              <a:rPr sz="1700" b="0" i="0">
                <a:solidFill>
                  <a:srgbClr val="56607A"/>
                </a:solidFill>
                <a:latin typeface="IBM Plex Sans"/>
              </a:rPr>
              <a:t>   3.11+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1517904"/>
            <a:ext cx="10607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0B7A6E"/>
                </a:solidFill>
                <a:latin typeface="IBM Plex Sans"/>
              </a:rPr>
              <a:t>Jediný jazyk celého repozitáře: backend, UI, scraper i skripty.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" y="2057400"/>
            <a:ext cx="5440680" cy="3977639"/>
          </a:xfrm>
          <a:prstGeom prst="roundRect">
            <a:avLst>
              <a:gd name="adj" fmla="val 4000"/>
            </a:avLst>
          </a:prstGeom>
          <a:solidFill>
            <a:srgbClr val="FCFBF7"/>
          </a:solidFill>
          <a:ln w="9525">
            <a:solidFill>
              <a:srgbClr val="E2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58568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50">
                <a:solidFill>
                  <a:srgbClr val="56607A"/>
                </a:solidFill>
                <a:latin typeface="IBM Plex Sans"/>
              </a:rPr>
              <a:t>K ČEMU SLOUŽÍ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560320"/>
            <a:ext cx="49834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0" i="0">
                <a:solidFill>
                  <a:srgbClr val="14213D"/>
                </a:solidFill>
                <a:latin typeface="IBM Plex Sans"/>
              </a:rPr>
              <a:t>Programovací jazyk, ve kterém běží všechno. Díky NiceGUI není potřeba JavaScript, Node.js ani npm – jeden venv v rootu pokryje backend i scraper.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611880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50">
                <a:solidFill>
                  <a:srgbClr val="56607A"/>
                </a:solidFill>
                <a:latin typeface="IBM Plex Sans"/>
              </a:rPr>
              <a:t>JAK HO POUŽÍVÁME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913632"/>
            <a:ext cx="49834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Typové anotace všude: X | None, list[str], Mapped[int] – čte je FastAPI, Pydantic i SQLAlchemy.</a:t>
            </a:r>
          </a:p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Protocol (typing) pro rozhraní LlmClient, dataclasses pro stav UI.</a:t>
            </a:r>
          </a:p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Standardní knihovna místo závislostí: smtplib, hmac, secrets, sqlite3.</a:t>
            </a:r>
          </a:p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Závislosti v requirements.txt / requirements-dev.txt v rootu.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2057400"/>
            <a:ext cx="4937760" cy="3337560"/>
          </a:xfrm>
          <a:prstGeom prst="roundRect">
            <a:avLst>
              <a:gd name="adj" fmla="val 4000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221992"/>
            <a:ext cx="4526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E0A526"/>
                </a:solidFill>
                <a:latin typeface="Consolas"/>
              </a:rPr>
              <a:t>backend/app/ai/llm.py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560320"/>
            <a:ext cx="452628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from typing import Protocol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class LlmClient(Protocol):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def complete(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    self, *, system: str,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    user_content: str,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    max_tokens: int,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) -&gt; str: ...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# instalace (root repozitáře)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python -m venv .venv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pip install -r requirements-dev.txt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5532120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56607A"/>
                </a:solidFill>
                <a:latin typeface="IBM Plex Sans"/>
              </a:rPr>
              <a:t>Kde v kódu  </a:t>
            </a:r>
            <a:r>
              <a:rPr sz="1050" b="0" i="0">
                <a:solidFill>
                  <a:srgbClr val="14213D"/>
                </a:solidFill>
                <a:latin typeface="Consolas"/>
              </a:rPr>
              <a:t>requirements.txt · pyproject.toml · .venv/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" y="632764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6607A"/>
                </a:solidFill>
                <a:latin typeface="IBM Plex Sans"/>
              </a:rPr>
              <a:t>DriveWise AI · Backend ·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13816" y="502920"/>
            <a:ext cx="2093976" cy="274320"/>
          </a:xfrm>
          <a:prstGeom prst="roundRect">
            <a:avLst>
              <a:gd name="adj" fmla="val 50000"/>
            </a:avLst>
          </a:prstGeom>
          <a:solidFill>
            <a:srgbClr val="E4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3816" y="502920"/>
            <a:ext cx="2093976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 spc="100">
                <a:solidFill>
                  <a:srgbClr val="3A4665"/>
                </a:solidFill>
                <a:latin typeface="IBM Plex Sans"/>
              </a:rPr>
              <a:t>BĚH A WEB · 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896112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13D"/>
                </a:solidFill>
                <a:latin typeface="IBM Plex Sans"/>
              </a:rPr>
              <a:t>Uvicorn</a:t>
            </a:r>
            <a:r>
              <a:rPr sz="1700" b="0" i="0">
                <a:solidFill>
                  <a:srgbClr val="56607A"/>
                </a:solidFill>
                <a:latin typeface="IBM Plex Sans"/>
              </a:rPr>
              <a:t>   uvicorn[standard] ≥ 0.32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1517904"/>
            <a:ext cx="10607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0B7A6E"/>
                </a:solidFill>
                <a:latin typeface="IBM Plex Sans"/>
              </a:rPr>
              <a:t>ASGI server, který spouští FastAPI aplikaci i s NiceGUI.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" y="2057400"/>
            <a:ext cx="5440680" cy="3977639"/>
          </a:xfrm>
          <a:prstGeom prst="roundRect">
            <a:avLst>
              <a:gd name="adj" fmla="val 4000"/>
            </a:avLst>
          </a:prstGeom>
          <a:solidFill>
            <a:srgbClr val="FCFBF7"/>
          </a:solidFill>
          <a:ln w="9525">
            <a:solidFill>
              <a:srgbClr val="E2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58568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50">
                <a:solidFill>
                  <a:srgbClr val="56607A"/>
                </a:solidFill>
                <a:latin typeface="IBM Plex Sans"/>
              </a:rPr>
              <a:t>K ČEMU SLOUŽÍ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560320"/>
            <a:ext cx="49834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0" i="0">
                <a:solidFill>
                  <a:srgbClr val="14213D"/>
                </a:solidFill>
                <a:latin typeface="IBM Plex Sans"/>
              </a:rPr>
              <a:t>Uvicorn přijímá HTTP a WebSocket spojení a předává je ASGI aplikaci. Varianta [standard] přidává rychlou smyčku (uvloop / httptools) a podporu WebSocketů.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611880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50">
                <a:solidFill>
                  <a:srgbClr val="56607A"/>
                </a:solidFill>
                <a:latin typeface="IBM Plex Sans"/>
              </a:rPr>
              <a:t>JAK HO POUŽÍVÁME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913632"/>
            <a:ext cx="49834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Spouští app.main:app – jeden proces obslouží REST /api/* i UI na /.</a:t>
            </a:r>
          </a:p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WebSockety jsou nutné pro NiceGUI: každá akce v UI jde po otevřeném socketu.</a:t>
            </a:r>
          </a:p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--reload ve vývoji restartuje server při změně kódu.</a:t>
            </a:r>
          </a:p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scripts/run.bat nejdřív importuje data ze scraperu, pak startuje Uvicorn.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2057400"/>
            <a:ext cx="4937760" cy="3337560"/>
          </a:xfrm>
          <a:prstGeom prst="roundRect">
            <a:avLst>
              <a:gd name="adj" fmla="val 4000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221992"/>
            <a:ext cx="4526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E0A526"/>
                </a:solidFill>
                <a:latin typeface="Consolas"/>
              </a:rPr>
              <a:t>scripts/run.bat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560320"/>
            <a:ext cx="452628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cd backend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python -m uvicorn app.main:app --reload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# app.main:app  =  modul : proměnná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#   app/main.py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#   app = FastAPI(title="DriveWise AI API")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#   ...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#   ui.run_with(app, mount_path="/")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5532120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56607A"/>
                </a:solidFill>
                <a:latin typeface="IBM Plex Sans"/>
              </a:rPr>
              <a:t>Kde v kódu  </a:t>
            </a:r>
            <a:r>
              <a:rPr sz="1050" b="0" i="0">
                <a:solidFill>
                  <a:srgbClr val="14213D"/>
                </a:solidFill>
                <a:latin typeface="Consolas"/>
              </a:rPr>
              <a:t>scripts/run.bat · backend/README.md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" y="632764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6607A"/>
                </a:solidFill>
                <a:latin typeface="IBM Plex Sans"/>
              </a:rPr>
              <a:t>DriveWise AI · Backend ·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13816" y="502920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E4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3816" y="502920"/>
            <a:ext cx="228600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 spc="100">
                <a:solidFill>
                  <a:srgbClr val="3A4665"/>
                </a:solidFill>
                <a:latin typeface="IBM Plex Sans"/>
              </a:rPr>
              <a:t>BĚH A WEB · REST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896112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13D"/>
                </a:solidFill>
                <a:latin typeface="IBM Plex Sans"/>
              </a:rPr>
              <a:t>FastAPI</a:t>
            </a:r>
            <a:r>
              <a:rPr sz="1700" b="0" i="0">
                <a:solidFill>
                  <a:srgbClr val="56607A"/>
                </a:solidFill>
                <a:latin typeface="IBM Plex Sans"/>
              </a:rPr>
              <a:t>   ≥ 0.115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1517904"/>
            <a:ext cx="10607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0B7A6E"/>
                </a:solidFill>
                <a:latin typeface="IBM Plex Sans"/>
              </a:rPr>
              <a:t>Webový framework: routy, validace vstupů a JSON odpovědi z typů.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" y="2057400"/>
            <a:ext cx="5440680" cy="3977639"/>
          </a:xfrm>
          <a:prstGeom prst="roundRect">
            <a:avLst>
              <a:gd name="adj" fmla="val 4000"/>
            </a:avLst>
          </a:prstGeom>
          <a:solidFill>
            <a:srgbClr val="FCFBF7"/>
          </a:solidFill>
          <a:ln w="9525">
            <a:solidFill>
              <a:srgbClr val="E2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58568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50">
                <a:solidFill>
                  <a:srgbClr val="56607A"/>
                </a:solidFill>
                <a:latin typeface="IBM Plex Sans"/>
              </a:rPr>
              <a:t>K ČEMU SLOUŽÍ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560320"/>
            <a:ext cx="49834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0" i="0">
                <a:solidFill>
                  <a:srgbClr val="14213D"/>
                </a:solidFill>
                <a:latin typeface="IBM Plex Sans"/>
              </a:rPr>
              <a:t>Z typových anotací funkce FastAPI odvodí parsování query parametrů, validaci, serializaci odpovědi i OpenAPI dokumentaci. Stojí na Starlette (ASGI).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611880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50">
                <a:solidFill>
                  <a:srgbClr val="56607A"/>
                </a:solidFill>
                <a:latin typeface="IBM Plex Sans"/>
              </a:rPr>
              <a:t>JAK HO POUŽÍVÁME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913632"/>
            <a:ext cx="49834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Čtyři routery pod /api: brands, models, vehicles, conversations.</a:t>
            </a:r>
          </a:p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Handler jen volá service vrstvu; response_model je Pydantic schéma.</a:t>
            </a:r>
          </a:p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Depends(get_db) dodá SQLAlchemy session na dobu jednoho požadavku.</a:t>
            </a:r>
          </a:p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Vlastní exception handler vrací chybový tvar {"error": …} podle api-contract.md.</a:t>
            </a:r>
          </a:p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Na stejnou app se mountuje NiceGUI UI.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2057400"/>
            <a:ext cx="4937760" cy="3337560"/>
          </a:xfrm>
          <a:prstGeom prst="roundRect">
            <a:avLst>
              <a:gd name="adj" fmla="val 4000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221992"/>
            <a:ext cx="4526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E0A526"/>
                </a:solidFill>
                <a:latin typeface="Consolas"/>
              </a:rPr>
              <a:t>backend/app/api/vehicles.py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560320"/>
            <a:ext cx="452628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router = APIRouter(prefix="/vehicles")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@router.get("",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response_model=Page[VehicleSummary])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def list_vehicles(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fuel_type: FuelType | None = None,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page: int = Query(1, ge=1),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db: Session = Depends(get_db),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) -&gt; Page[VehicleSummary]: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return catalog.list_vehicles(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    db, fuel_type=fuel_type,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    page=page)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5532120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56607A"/>
                </a:solidFill>
                <a:latin typeface="IBM Plex Sans"/>
              </a:rPr>
              <a:t>Kde v kódu  </a:t>
            </a:r>
            <a:r>
              <a:rPr sz="1050" b="0" i="0">
                <a:solidFill>
                  <a:srgbClr val="14213D"/>
                </a:solidFill>
                <a:latin typeface="Consolas"/>
              </a:rPr>
              <a:t>app/main.py · app/api/*.py · app/api/deps.py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" y="632764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6607A"/>
                </a:solidFill>
                <a:latin typeface="IBM Plex Sans"/>
              </a:rPr>
              <a:t>DriveWise AI · Backend ·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13816" y="502920"/>
            <a:ext cx="1805940" cy="274320"/>
          </a:xfrm>
          <a:prstGeom prst="roundRect">
            <a:avLst>
              <a:gd name="adj" fmla="val 50000"/>
            </a:avLst>
          </a:prstGeom>
          <a:solidFill>
            <a:srgbClr val="E4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3816" y="502920"/>
            <a:ext cx="180594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 spc="100">
                <a:solidFill>
                  <a:srgbClr val="3A4665"/>
                </a:solidFill>
                <a:latin typeface="IBM Plex Sans"/>
              </a:rPr>
              <a:t>DATA · VALIDACE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896112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13D"/>
                </a:solidFill>
                <a:latin typeface="IBM Plex Sans"/>
              </a:rPr>
              <a:t>Pydantic</a:t>
            </a:r>
            <a:r>
              <a:rPr sz="1700" b="0" i="0">
                <a:solidFill>
                  <a:srgbClr val="56607A"/>
                </a:solidFill>
                <a:latin typeface="IBM Plex Sans"/>
              </a:rPr>
              <a:t>   v2 · ≥ 2.9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1517904"/>
            <a:ext cx="10607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0B7A6E"/>
                </a:solidFill>
                <a:latin typeface="IBM Plex Sans"/>
              </a:rPr>
              <a:t>Typované datové modely: kontrakt API, výstup AI i data pro UI.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" y="2057400"/>
            <a:ext cx="5440680" cy="3977639"/>
          </a:xfrm>
          <a:prstGeom prst="roundRect">
            <a:avLst>
              <a:gd name="adj" fmla="val 4000"/>
            </a:avLst>
          </a:prstGeom>
          <a:solidFill>
            <a:srgbClr val="FCFBF7"/>
          </a:solidFill>
          <a:ln w="9525">
            <a:solidFill>
              <a:srgbClr val="E2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58568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50">
                <a:solidFill>
                  <a:srgbClr val="56607A"/>
                </a:solidFill>
                <a:latin typeface="IBM Plex Sans"/>
              </a:rPr>
              <a:t>K ČEMU SLOUŽÍ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560320"/>
            <a:ext cx="49834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0" i="0">
                <a:solidFill>
                  <a:srgbClr val="14213D"/>
                </a:solidFill>
                <a:latin typeface="IBM Plex Sans"/>
              </a:rPr>
              <a:t>Pydantic validuje a převádí data podle deklarovaných typů. V2 má jádro v Rustu, takže je rychlý i pro velké seznamy vozů.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611880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50">
                <a:solidFill>
                  <a:srgbClr val="56607A"/>
                </a:solidFill>
                <a:latin typeface="IBM Plex Sans"/>
              </a:rPr>
              <a:t>JAK HO POUŽÍVÁME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913632"/>
            <a:ext cx="49834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Všechna schémata v app/schemas: vehicle, catalog, conversation, requirement, auth.</a:t>
            </a:r>
          </a:p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StructuredRequirements = jediný výstup AI interpretace, vstup doporučovacího enginu.</a:t>
            </a:r>
          </a:p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Money {amount, currency} – ceny nikdy jako holé číslo.</a:t>
            </a:r>
          </a:p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UI konzumuje stejné modely přímo, bez překladu do DTO.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2057400"/>
            <a:ext cx="4937760" cy="3337560"/>
          </a:xfrm>
          <a:prstGeom prst="roundRect">
            <a:avLst>
              <a:gd name="adj" fmla="val 4000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221992"/>
            <a:ext cx="4526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E0A526"/>
                </a:solidFill>
                <a:latin typeface="Consolas"/>
              </a:rPr>
              <a:t>backend/app/schemas/requirement.py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560320"/>
            <a:ext cx="452628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class StructuredRequirements(BaseModel):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body_type: str | None = None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min_seats: int | None = None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budget_max: Money | None = None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fuel_type: str | None = None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drivetrain: Drivetrain | None = None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priorities: list[str] = Field(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    default_factory=list)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notes: str | None = None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5532120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56607A"/>
                </a:solidFill>
                <a:latin typeface="IBM Plex Sans"/>
              </a:rPr>
              <a:t>Kde v kódu  </a:t>
            </a:r>
            <a:r>
              <a:rPr sz="1050" b="0" i="0">
                <a:solidFill>
                  <a:srgbClr val="14213D"/>
                </a:solidFill>
                <a:latin typeface="Consolas"/>
              </a:rPr>
              <a:t>app/schemas/*.py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" y="632764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6607A"/>
                </a:solidFill>
                <a:latin typeface="IBM Plex Sans"/>
              </a:rPr>
              <a:t>DriveWise AI · Backend ·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13816" y="502920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E4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3816" y="502920"/>
            <a:ext cx="132588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 spc="100">
                <a:solidFill>
                  <a:srgbClr val="3A4665"/>
                </a:solidFill>
                <a:latin typeface="IBM Plex Sans"/>
              </a:rPr>
              <a:t>DATA · 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896112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13D"/>
                </a:solidFill>
                <a:latin typeface="IBM Plex Sans"/>
              </a:rPr>
              <a:t>SQLAlchemy</a:t>
            </a:r>
            <a:r>
              <a:rPr sz="1700" b="0" i="0">
                <a:solidFill>
                  <a:srgbClr val="56607A"/>
                </a:solidFill>
                <a:latin typeface="IBM Plex Sans"/>
              </a:rPr>
              <a:t>   2.0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1517904"/>
            <a:ext cx="10607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0B7A6E"/>
                </a:solidFill>
                <a:latin typeface="IBM Plex Sans"/>
              </a:rPr>
              <a:t>ORM a SQL toolkit: modely katalogu, dotazy a sessions.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" y="2057400"/>
            <a:ext cx="5440680" cy="3977639"/>
          </a:xfrm>
          <a:prstGeom prst="roundRect">
            <a:avLst>
              <a:gd name="adj" fmla="val 4000"/>
            </a:avLst>
          </a:prstGeom>
          <a:solidFill>
            <a:srgbClr val="FCFBF7"/>
          </a:solidFill>
          <a:ln w="9525">
            <a:solidFill>
              <a:srgbClr val="E2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58568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50">
                <a:solidFill>
                  <a:srgbClr val="56607A"/>
                </a:solidFill>
                <a:latin typeface="IBM Plex Sans"/>
              </a:rPr>
              <a:t>K ČEMU SLOUŽÍ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560320"/>
            <a:ext cx="49834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0" i="0">
                <a:solidFill>
                  <a:srgbClr val="14213D"/>
                </a:solidFill>
                <a:latin typeface="IBM Plex Sans"/>
              </a:rPr>
              <a:t>SQLAlchemy mapuje Python třídy na tabulky a skládá SQL dotazy. Tentýž kód běží nad SQLite i PostgreSQL – dialekt se vybere z DATABASE_URL.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611880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50">
                <a:solidFill>
                  <a:srgbClr val="56607A"/>
                </a:solidFill>
                <a:latin typeface="IBM Plex Sans"/>
              </a:rPr>
              <a:t>JAK HO POUŽÍVÁME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913632"/>
            <a:ext cx="49834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Deklarativní modely (Mapped, mapped_column) v app/models – 15 tabulek.</a:t>
            </a:r>
          </a:p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Naming convention pro stabilní názvy constraintů (kvůli Alembicu).</a:t>
            </a:r>
          </a:p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BigIntPK: BIGINT na Postgresu, INTEGER na SQLite (autoincrement).</a:t>
            </a:r>
          </a:p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Session na akci: get_db() pro REST, get_session() pro UI.</a:t>
            </a:r>
          </a:p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Import skript plní katalog přes ORM ze scraper.db.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2057400"/>
            <a:ext cx="4937760" cy="3337560"/>
          </a:xfrm>
          <a:prstGeom prst="roundRect">
            <a:avLst>
              <a:gd name="adj" fmla="val 4000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221992"/>
            <a:ext cx="4526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E0A526"/>
                </a:solidFill>
                <a:latin typeface="Consolas"/>
              </a:rPr>
              <a:t>backend/app/models/trim.py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560320"/>
            <a:ext cx="452628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class Trim(Base):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__tablename__ = "trims"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__table_args__ = (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    UniqueConstraint("model_id", "name"),)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id: Mapped[int] = mapped_column(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    BigIntPK, primary_key=True)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model_id: Mapped[int] = mapped_column(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    ForeignKey("models.id"))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name: Mapped[str] = mapped_column(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    String(128))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5532120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56607A"/>
                </a:solidFill>
                <a:latin typeface="IBM Plex Sans"/>
              </a:rPr>
              <a:t>Kde v kódu  </a:t>
            </a:r>
            <a:r>
              <a:rPr sz="1050" b="0" i="0">
                <a:solidFill>
                  <a:srgbClr val="14213D"/>
                </a:solidFill>
                <a:latin typeface="Consolas"/>
              </a:rPr>
              <a:t>app/models/ · app/db/ · app/services/catalog.py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" y="632764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6607A"/>
                </a:solidFill>
                <a:latin typeface="IBM Plex Sans"/>
              </a:rPr>
              <a:t>DriveWise AI · Backend ·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13816" y="502920"/>
            <a:ext cx="1709928" cy="274320"/>
          </a:xfrm>
          <a:prstGeom prst="roundRect">
            <a:avLst>
              <a:gd name="adj" fmla="val 50000"/>
            </a:avLst>
          </a:prstGeom>
          <a:solidFill>
            <a:srgbClr val="E4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3816" y="502920"/>
            <a:ext cx="1709928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 spc="100">
                <a:solidFill>
                  <a:srgbClr val="3A4665"/>
                </a:solidFill>
                <a:latin typeface="IBM Plex Sans"/>
              </a:rPr>
              <a:t>DATA · MIGRACE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896112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13D"/>
                </a:solidFill>
                <a:latin typeface="IBM Plex Sans"/>
              </a:rPr>
              <a:t>Alembic</a:t>
            </a:r>
            <a:r>
              <a:rPr sz="1700" b="0" i="0">
                <a:solidFill>
                  <a:srgbClr val="56607A"/>
                </a:solidFill>
                <a:latin typeface="IBM Plex Sans"/>
              </a:rPr>
              <a:t>   ≥ 1.13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1517904"/>
            <a:ext cx="10607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0B7A6E"/>
                </a:solidFill>
                <a:latin typeface="IBM Plex Sans"/>
              </a:rPr>
              <a:t>Verzované migrace schématu databáze.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" y="2057400"/>
            <a:ext cx="5440680" cy="3977639"/>
          </a:xfrm>
          <a:prstGeom prst="roundRect">
            <a:avLst>
              <a:gd name="adj" fmla="val 4000"/>
            </a:avLst>
          </a:prstGeom>
          <a:solidFill>
            <a:srgbClr val="FCFBF7"/>
          </a:solidFill>
          <a:ln w="9525">
            <a:solidFill>
              <a:srgbClr val="E2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58568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50">
                <a:solidFill>
                  <a:srgbClr val="56607A"/>
                </a:solidFill>
                <a:latin typeface="IBM Plex Sans"/>
              </a:rPr>
              <a:t>K ČEMU SLOUŽÍ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560320"/>
            <a:ext cx="49834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0" i="0">
                <a:solidFill>
                  <a:srgbClr val="14213D"/>
                </a:solidFill>
                <a:latin typeface="IBM Plex Sans"/>
              </a:rPr>
              <a:t>Alembic ukládá změny schématu jako číslované Python skripty a v tabulce alembic_version si pamatuje, kterou verzi databáze už má.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611880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50">
                <a:solidFill>
                  <a:srgbClr val="56607A"/>
                </a:solidFill>
                <a:latin typeface="IBM Plex Sans"/>
              </a:rPr>
              <a:t>JAK HO POUŽÍVÁME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913632"/>
            <a:ext cx="49834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4 migrace: katalog, typ paliva hybrid, uživatelé + přihlašovací kódy, uložené požadavky.</a:t>
            </a:r>
          </a:p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env.py bere URL z app config (.env), ne z alembic.ini.</a:t>
            </a:r>
          </a:p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Autogenerate porovná Base.metadata s databází a navrhne migraci.</a:t>
            </a:r>
          </a:p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--sql vypíše DDL bez živé databáze (offline režim).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2057400"/>
            <a:ext cx="4937760" cy="3337560"/>
          </a:xfrm>
          <a:prstGeom prst="roundRect">
            <a:avLst>
              <a:gd name="adj" fmla="val 4000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221992"/>
            <a:ext cx="4526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E0A526"/>
                </a:solidFill>
                <a:latin typeface="Consolas"/>
              </a:rPr>
              <a:t>backend/ (příkazová řádka)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560320"/>
            <a:ext cx="452628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alembic upgrade head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alembic upgrade head --sql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alembic revision --autogenerate \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-m "add saved requirements"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# alembic/env.py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config.set_main_option(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"sqlalchemy.url", DATABASE_URL)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target_metadata = Base.metadata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5532120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56607A"/>
                </a:solidFill>
                <a:latin typeface="IBM Plex Sans"/>
              </a:rPr>
              <a:t>Kde v kódu  </a:t>
            </a:r>
            <a:r>
              <a:rPr sz="1050" b="0" i="0">
                <a:solidFill>
                  <a:srgbClr val="14213D"/>
                </a:solidFill>
                <a:latin typeface="Consolas"/>
              </a:rPr>
              <a:t>backend/alembic/ · alembic.ini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" y="632764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6607A"/>
                </a:solidFill>
                <a:latin typeface="IBM Plex Sans"/>
              </a:rPr>
              <a:t>DriveWise AI · Backend ·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13816" y="502920"/>
            <a:ext cx="2766060" cy="274320"/>
          </a:xfrm>
          <a:prstGeom prst="roundRect">
            <a:avLst>
              <a:gd name="adj" fmla="val 50000"/>
            </a:avLst>
          </a:prstGeom>
          <a:solidFill>
            <a:srgbClr val="E4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3816" y="502920"/>
            <a:ext cx="276606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 spc="100">
                <a:solidFill>
                  <a:srgbClr val="3A4665"/>
                </a:solidFill>
                <a:latin typeface="IBM Plex Sans"/>
              </a:rPr>
              <a:t>DATA · DATABÁZE PRO VÝVOJ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896112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13D"/>
                </a:solidFill>
                <a:latin typeface="IBM Plex Sans"/>
              </a:rPr>
              <a:t>SQLite</a:t>
            </a:r>
            <a:r>
              <a:rPr sz="1700" b="0" i="0">
                <a:solidFill>
                  <a:srgbClr val="56607A"/>
                </a:solidFill>
                <a:latin typeface="IBM Plex Sans"/>
              </a:rPr>
              <a:t>   sqlite3 ve standardní knihovně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1517904"/>
            <a:ext cx="10607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0B7A6E"/>
                </a:solidFill>
                <a:latin typeface="IBM Plex Sans"/>
              </a:rPr>
              <a:t>Výchozí lokální databáze – soubor, žádný server.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" y="2057400"/>
            <a:ext cx="5440680" cy="3977639"/>
          </a:xfrm>
          <a:prstGeom prst="roundRect">
            <a:avLst>
              <a:gd name="adj" fmla="val 4000"/>
            </a:avLst>
          </a:prstGeom>
          <a:solidFill>
            <a:srgbClr val="FCFBF7"/>
          </a:solidFill>
          <a:ln w="9525">
            <a:solidFill>
              <a:srgbClr val="E2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58568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50">
                <a:solidFill>
                  <a:srgbClr val="56607A"/>
                </a:solidFill>
                <a:latin typeface="IBM Plex Sans"/>
              </a:rPr>
              <a:t>K ČEMU SLOUŽÍ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560320"/>
            <a:ext cx="49834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0" i="0">
                <a:solidFill>
                  <a:srgbClr val="14213D"/>
                </a:solidFill>
                <a:latin typeface="IBM Plex Sans"/>
              </a:rPr>
              <a:t>SQLite je databáze v jednom souboru. Pro vývoj stačí naklonovat repozitář a spustit migrace – není co instalovat.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611880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50">
                <a:solidFill>
                  <a:srgbClr val="56607A"/>
                </a:solidFill>
                <a:latin typeface="IBM Plex Sans"/>
              </a:rPr>
              <a:t>JAK HO POUŽÍVÁME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913632"/>
            <a:ext cx="49834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storage/drivewise.db = katalog, uživatelé, uložené požadavky.</a:t>
            </a:r>
          </a:p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storage/scraper.db = výstup scraperu, čte ho import skript přes sqlite3.</a:t>
            </a:r>
          </a:p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Testy běží nad in-memory SQLite (sqlite://) se StaticPool.</a:t>
            </a:r>
          </a:p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check_same_thread=False: FastAPI i NiceGUI volají DB z worker vláken.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2057400"/>
            <a:ext cx="4937760" cy="3337560"/>
          </a:xfrm>
          <a:prstGeom prst="roundRect">
            <a:avLst>
              <a:gd name="adj" fmla="val 4000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221992"/>
            <a:ext cx="4526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E0A526"/>
                </a:solidFill>
                <a:latin typeface="Consolas"/>
              </a:rPr>
              <a:t>backend/app/db/session.py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560320"/>
            <a:ext cx="452628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# výchozí DATABASE_URL: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#   sqlite:///…/storage/drivewise.db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_connect_args = (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{"check_same_thread": False}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if DATABASE_URL.startswith("sqlite")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else {})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engine = create_engine(DATABASE_URL,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pool_pre_ping=True,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connect_args=_connect_args)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5532120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56607A"/>
                </a:solidFill>
                <a:latin typeface="IBM Plex Sans"/>
              </a:rPr>
              <a:t>Kde v kódu  </a:t>
            </a:r>
            <a:r>
              <a:rPr sz="1050" b="0" i="0">
                <a:solidFill>
                  <a:srgbClr val="14213D"/>
                </a:solidFill>
                <a:latin typeface="Consolas"/>
              </a:rPr>
              <a:t>app/db/session.py · scripts/import_scraper_data.py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" y="632764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6607A"/>
                </a:solidFill>
                <a:latin typeface="IBM Plex Sans"/>
              </a:rPr>
              <a:t>DriveWise AI · Backend ·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13816" y="502920"/>
            <a:ext cx="2478024" cy="274320"/>
          </a:xfrm>
          <a:prstGeom prst="roundRect">
            <a:avLst>
              <a:gd name="adj" fmla="val 50000"/>
            </a:avLst>
          </a:prstGeom>
          <a:solidFill>
            <a:srgbClr val="E4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3816" y="502920"/>
            <a:ext cx="2478024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 spc="100">
                <a:solidFill>
                  <a:srgbClr val="3A4665"/>
                </a:solidFill>
                <a:latin typeface="IBM Plex Sans"/>
              </a:rPr>
              <a:t>DATA · CÍLOVÁ DATABÁZE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896112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13D"/>
                </a:solidFill>
                <a:latin typeface="IBM Plex Sans"/>
              </a:rPr>
              <a:t>PostgreSQL + psycopg</a:t>
            </a:r>
            <a:r>
              <a:rPr sz="1700" b="0" i="0">
                <a:solidFill>
                  <a:srgbClr val="56607A"/>
                </a:solidFill>
                <a:latin typeface="IBM Plex Sans"/>
              </a:rPr>
              <a:t>   psycopg[binary] ≥ 3.2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1517904"/>
            <a:ext cx="10607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0B7A6E"/>
                </a:solidFill>
                <a:latin typeface="IBM Plex Sans"/>
              </a:rPr>
              <a:t>Produkční databáze a její Python ovladač.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" y="2057400"/>
            <a:ext cx="5440680" cy="3977639"/>
          </a:xfrm>
          <a:prstGeom prst="roundRect">
            <a:avLst>
              <a:gd name="adj" fmla="val 4000"/>
            </a:avLst>
          </a:prstGeom>
          <a:solidFill>
            <a:srgbClr val="FCFBF7"/>
          </a:solidFill>
          <a:ln w="9525">
            <a:solidFill>
              <a:srgbClr val="E2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58568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50">
                <a:solidFill>
                  <a:srgbClr val="56607A"/>
                </a:solidFill>
                <a:latin typeface="IBM Plex Sans"/>
              </a:rPr>
              <a:t>K ČEMU SLOUŽÍ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560320"/>
            <a:ext cx="49834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0" i="0">
                <a:solidFill>
                  <a:srgbClr val="14213D"/>
                </a:solidFill>
                <a:latin typeface="IBM Plex Sans"/>
              </a:rPr>
              <a:t>PostgreSQL je cílová databáze pro provoz. psycopg 3 je ovladač, přes který s ní SQLAlchemy mluví; varianta [binary] nepotřebuje kompilaci.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611880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50">
                <a:solidFill>
                  <a:srgbClr val="56607A"/>
                </a:solidFill>
                <a:latin typeface="IBM Plex Sans"/>
              </a:rPr>
              <a:t>JAK HO POUŽÍVÁME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913632"/>
            <a:ext cx="49834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Přepnutí = jen změna DATABASE_URL, modely i migrace se nemění.</a:t>
            </a:r>
          </a:p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Enumy jsou nativní Postgres typy; na SQLite z nich je VARCHAR + CHECK.</a:t>
            </a:r>
          </a:p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Částečný unikátní index na prices má postgresql_where i sqlite_where.</a:t>
            </a:r>
          </a:p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Zatím otevřený bod: provoz stále běží na SQLite.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2057400"/>
            <a:ext cx="4937760" cy="3337560"/>
          </a:xfrm>
          <a:prstGeom prst="roundRect">
            <a:avLst>
              <a:gd name="adj" fmla="val 4000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221992"/>
            <a:ext cx="4526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E0A526"/>
                </a:solidFill>
                <a:latin typeface="Consolas"/>
              </a:rPr>
              <a:t>backend/.env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560320"/>
            <a:ext cx="452628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DATABASE_URL=postgresql+psycopg://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drivewise:drivewise@localhost:5432/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drivewise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# postgresql   dialekt SQLAlchemy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# +psycopg     ovladač (psycopg 3)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alembic upgrade head   # stejné migrace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5532120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56607A"/>
                </a:solidFill>
                <a:latin typeface="IBM Plex Sans"/>
              </a:rPr>
              <a:t>Kde v kódu  </a:t>
            </a:r>
            <a:r>
              <a:rPr sz="1050" b="0" i="0">
                <a:solidFill>
                  <a:srgbClr val="14213D"/>
                </a:solidFill>
                <a:latin typeface="Consolas"/>
              </a:rPr>
              <a:t>app/core/config.py · app/db/base.py · alembic/versions/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" y="632764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6607A"/>
                </a:solidFill>
                <a:latin typeface="IBM Plex Sans"/>
              </a:rPr>
              <a:t>DriveWise AI · Backend ·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13816" y="502920"/>
            <a:ext cx="1421892" cy="274320"/>
          </a:xfrm>
          <a:prstGeom prst="roundRect">
            <a:avLst>
              <a:gd name="adj" fmla="val 50000"/>
            </a:avLst>
          </a:prstGeom>
          <a:solidFill>
            <a:srgbClr val="E4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3816" y="502920"/>
            <a:ext cx="1421892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 spc="100">
                <a:solidFill>
                  <a:srgbClr val="3A4665"/>
                </a:solidFill>
                <a:latin typeface="IBM Plex Sans"/>
              </a:rPr>
              <a:t>KONFIGURACE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896112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13D"/>
                </a:solidFill>
                <a:latin typeface="IBM Plex Sans"/>
              </a:rPr>
              <a:t>python-dotenv</a:t>
            </a:r>
            <a:r>
              <a:rPr sz="1700" b="0" i="0">
                <a:solidFill>
                  <a:srgbClr val="56607A"/>
                </a:solidFill>
                <a:latin typeface="IBM Plex Sans"/>
              </a:rPr>
              <a:t>   ≥ 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1517904"/>
            <a:ext cx="10607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0B7A6E"/>
                </a:solidFill>
                <a:latin typeface="IBM Plex Sans"/>
              </a:rPr>
              <a:t>Načte proměnné prostředí ze souboru .env.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" y="2057400"/>
            <a:ext cx="5440680" cy="3977639"/>
          </a:xfrm>
          <a:prstGeom prst="roundRect">
            <a:avLst>
              <a:gd name="adj" fmla="val 4000"/>
            </a:avLst>
          </a:prstGeom>
          <a:solidFill>
            <a:srgbClr val="FCFBF7"/>
          </a:solidFill>
          <a:ln w="9525">
            <a:solidFill>
              <a:srgbClr val="E2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58568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50">
                <a:solidFill>
                  <a:srgbClr val="56607A"/>
                </a:solidFill>
                <a:latin typeface="IBM Plex Sans"/>
              </a:rPr>
              <a:t>K ČEMU SLOUŽÍ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560320"/>
            <a:ext cx="49834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0" i="0">
                <a:solidFill>
                  <a:srgbClr val="14213D"/>
                </a:solidFill>
                <a:latin typeface="IBM Plex Sans"/>
              </a:rPr>
              <a:t>load_dotenv() přečte soubor .env a doplní hodnoty do os.environ. Tajné klíče tak nejsou v kódu a každý vývojář má vlastní nastavení.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611880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50">
                <a:solidFill>
                  <a:srgbClr val="56607A"/>
                </a:solidFill>
                <a:latin typeface="IBM Plex Sans"/>
              </a:rPr>
              <a:t>JAK HO POUŽÍVÁME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913632"/>
            <a:ext cx="49834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Jedno místo pro konfiguraci: app/core/config.py.</a:t>
            </a:r>
          </a:p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DATABASE_URL, AI_PROVIDER, ANTHROPIC_API_KEY, GROQ_API_KEY, SMTP_*, ADMIN_EMAILS …</a:t>
            </a:r>
          </a:p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Rozumné výchozí hodnoty (SQLite, e-mail do konzole), API klíče výchozí nemají.</a:t>
            </a:r>
          </a:p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backend/.env.example je šablona ke zkopírování.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2057400"/>
            <a:ext cx="4937760" cy="3337560"/>
          </a:xfrm>
          <a:prstGeom prst="roundRect">
            <a:avLst>
              <a:gd name="adj" fmla="val 4000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221992"/>
            <a:ext cx="4526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E0A526"/>
                </a:solidFill>
                <a:latin typeface="Consolas"/>
              </a:rPr>
              <a:t>backend/app/core/config.py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560320"/>
            <a:ext cx="452628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from dotenv import load_dotenv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load_dotenv()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DATABASE_URL = os.getenv(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"DATABASE_URL",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f"sqlite:///{_DEFAULT_SQLITE_PATH}")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AI_PROVIDER = os.getenv(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"AI_PROVIDER", "anthropic")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ANTHROPIC_API_KEY = os.getenv(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"ANTHROPIC_API_KEY")  # bez výchozí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5532120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56607A"/>
                </a:solidFill>
                <a:latin typeface="IBM Plex Sans"/>
              </a:rPr>
              <a:t>Kde v kódu  </a:t>
            </a:r>
            <a:r>
              <a:rPr sz="1050" b="0" i="0">
                <a:solidFill>
                  <a:srgbClr val="14213D"/>
                </a:solidFill>
                <a:latin typeface="Consolas"/>
              </a:rPr>
              <a:t>app/core/config.py · backend/.env.example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" y="632764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6607A"/>
                </a:solidFill>
                <a:latin typeface="IBM Plex Sans"/>
              </a:rPr>
              <a:t>DriveWise AI · Backend ·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13816" y="502920"/>
            <a:ext cx="3054096" cy="274320"/>
          </a:xfrm>
          <a:prstGeom prst="roundRect">
            <a:avLst>
              <a:gd name="adj" fmla="val 50000"/>
            </a:avLst>
          </a:prstGeom>
          <a:solidFill>
            <a:srgbClr val="F6E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3816" y="502920"/>
            <a:ext cx="3054096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 spc="100">
                <a:solidFill>
                  <a:srgbClr val="8A5A00"/>
                </a:solidFill>
                <a:latin typeface="IBM Plex Sans"/>
              </a:rPr>
              <a:t>AI VRSTVA · VÝCHOZÍ PROVIDER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896112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13D"/>
                </a:solidFill>
                <a:latin typeface="IBM Plex Sans"/>
              </a:rPr>
              <a:t>Anthropic SDK</a:t>
            </a:r>
            <a:r>
              <a:rPr sz="1700" b="0" i="0">
                <a:solidFill>
                  <a:srgbClr val="56607A"/>
                </a:solidFill>
                <a:latin typeface="IBM Plex Sans"/>
              </a:rPr>
              <a:t>   anthropic ≥ 0.39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1517904"/>
            <a:ext cx="10607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0B7A6E"/>
                </a:solidFill>
                <a:latin typeface="IBM Plex Sans"/>
              </a:rPr>
              <a:t>Oficiální klient Claude API – porozumění požadavkům a vysvětlení.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" y="2057400"/>
            <a:ext cx="5440680" cy="3977639"/>
          </a:xfrm>
          <a:prstGeom prst="roundRect">
            <a:avLst>
              <a:gd name="adj" fmla="val 4000"/>
            </a:avLst>
          </a:prstGeom>
          <a:solidFill>
            <a:srgbClr val="FCFBF7"/>
          </a:solidFill>
          <a:ln w="9525">
            <a:solidFill>
              <a:srgbClr val="E2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58568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50">
                <a:solidFill>
                  <a:srgbClr val="56607A"/>
                </a:solidFill>
                <a:latin typeface="IBM Plex Sans"/>
              </a:rPr>
              <a:t>K ČEMU SLOUŽÍ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560320"/>
            <a:ext cx="49834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0" i="0">
                <a:solidFill>
                  <a:srgbClr val="14213D"/>
                </a:solidFill>
                <a:latin typeface="IBM Plex Sans"/>
              </a:rPr>
              <a:t>Knihovna volá Messages API. Claude převede volný text uživatele na strukturované požadavky a napíše české zdůvodnění, proč vůz sedí.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611880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50">
                <a:solidFill>
                  <a:srgbClr val="56607A"/>
                </a:solidFill>
                <a:latin typeface="IBM Plex Sans"/>
              </a:rPr>
              <a:t>JAK HO POUŽÍVÁME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913632"/>
            <a:ext cx="49834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Volá se jen v app/ai – nikde jinde v kódu (pravidlo z CLAUDE.md).</a:t>
            </a:r>
          </a:p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AnthropicLlmClient implementuje společné rozhraní LlmClient.complete().</a:t>
            </a:r>
          </a:p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Model z CLAUDE_MODEL, výchozí claude-sonnet-5.</a:t>
            </a:r>
          </a:p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Chyby SDK se mapují na AiProviderError: klíč, limit, model, spojení.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2057400"/>
            <a:ext cx="4937760" cy="3337560"/>
          </a:xfrm>
          <a:prstGeom prst="roundRect">
            <a:avLst>
              <a:gd name="adj" fmla="val 4000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221992"/>
            <a:ext cx="4526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E0A526"/>
                </a:solidFill>
                <a:latin typeface="Consolas"/>
              </a:rPr>
              <a:t>backend/app/ai/llm.py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560320"/>
            <a:ext cx="452628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response = self._client.messages.create(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model=self._model,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max_tokens=max_tokens,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system=system,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messages=[{"role": "user",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           "content": user_content}],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)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return "".join(b.text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for b in response.content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if b.type == "text")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5532120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56607A"/>
                </a:solidFill>
                <a:latin typeface="IBM Plex Sans"/>
              </a:rPr>
              <a:t>Kde v kódu  </a:t>
            </a:r>
            <a:r>
              <a:rPr sz="1050" b="0" i="0">
                <a:solidFill>
                  <a:srgbClr val="14213D"/>
                </a:solidFill>
                <a:latin typeface="Consolas"/>
              </a:rPr>
              <a:t>app/ai/llm.py · app/ai/client.py · requirement_interpreter.py · explanation_generator.py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" y="632764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6607A"/>
                </a:solidFill>
                <a:latin typeface="IBM Plex Sans"/>
              </a:rPr>
              <a:t>DriveWise AI · Backend ·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13816" y="502920"/>
            <a:ext cx="3534156" cy="274320"/>
          </a:xfrm>
          <a:prstGeom prst="roundRect">
            <a:avLst>
              <a:gd name="adj" fmla="val 50000"/>
            </a:avLst>
          </a:prstGeom>
          <a:solidFill>
            <a:srgbClr val="F6E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3816" y="502920"/>
            <a:ext cx="3534156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 spc="100">
                <a:solidFill>
                  <a:srgbClr val="8A5A00"/>
                </a:solidFill>
                <a:latin typeface="IBM Plex Sans"/>
              </a:rPr>
              <a:t>AI VRSTVA · ALTERNATIVNÍ PROVIDER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896112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13D"/>
                </a:solidFill>
                <a:latin typeface="IBM Plex Sans"/>
              </a:rPr>
              <a:t>Groq SDK</a:t>
            </a:r>
            <a:r>
              <a:rPr sz="1700" b="0" i="0">
                <a:solidFill>
                  <a:srgbClr val="56607A"/>
                </a:solidFill>
                <a:latin typeface="IBM Plex Sans"/>
              </a:rPr>
              <a:t>   groq ≥ 0.32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1517904"/>
            <a:ext cx="10607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0B7A6E"/>
                </a:solidFill>
                <a:latin typeface="IBM Plex Sans"/>
              </a:rPr>
              <a:t>Alternativní LLM za stejným rozhraním – levný vývoj a testování.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" y="2057400"/>
            <a:ext cx="5440680" cy="3977639"/>
          </a:xfrm>
          <a:prstGeom prst="roundRect">
            <a:avLst>
              <a:gd name="adj" fmla="val 4000"/>
            </a:avLst>
          </a:prstGeom>
          <a:solidFill>
            <a:srgbClr val="FCFBF7"/>
          </a:solidFill>
          <a:ln w="9525">
            <a:solidFill>
              <a:srgbClr val="E2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58568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50">
                <a:solidFill>
                  <a:srgbClr val="56607A"/>
                </a:solidFill>
                <a:latin typeface="IBM Plex Sans"/>
              </a:rPr>
              <a:t>K ČEMU SLOUŽÍ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560320"/>
            <a:ext cx="49834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0" i="0">
                <a:solidFill>
                  <a:srgbClr val="14213D"/>
                </a:solidFill>
                <a:latin typeface="IBM Plex Sans"/>
              </a:rPr>
              <a:t>Groq nabízí OpenAI-kompatibilní chat API s bezplatným vývojářským tarifem. Přepíná se jednou proměnnou AI_PROVIDER=groq.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611880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50">
                <a:solidFill>
                  <a:srgbClr val="56607A"/>
                </a:solidFill>
                <a:latin typeface="IBM Plex Sans"/>
              </a:rPr>
              <a:t>JAK HO POUŽÍVÁME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913632"/>
            <a:ext cx="49834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GroqLlmClient implementuje stejné LlmClient.complete() jako Anthropic.</a:t>
            </a:r>
          </a:p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Systémový prompt jde jako první zpráva s rolí system.</a:t>
            </a:r>
          </a:p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Výchozí model openai/gpt-oss-120b (reasoning) – nízké reasoning_effort + rezerva tokenů.</a:t>
            </a:r>
          </a:p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Groq modely vyřazuje podle plánu – dá se přepsat přes GROQ_MODEL.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2057400"/>
            <a:ext cx="4937760" cy="3337560"/>
          </a:xfrm>
          <a:prstGeom prst="roundRect">
            <a:avLst>
              <a:gd name="adj" fmla="val 4000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221992"/>
            <a:ext cx="4526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E0A526"/>
                </a:solidFill>
                <a:latin typeface="Consolas"/>
              </a:rPr>
              <a:t>backend/app/ai/llm.py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560320"/>
            <a:ext cx="452628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if self._model.startswith(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    ("openai/gpt-oss",)):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extra = {"reasoning_effort": "low",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         "include_reasoning": False}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max_tokens += 512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response = self._client.chat \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.completions.create(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    model=self._model,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    max_tokens=max_tokens, **extra,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    messages=[system_msg, user_msg])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5532120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56607A"/>
                </a:solidFill>
                <a:latin typeface="IBM Plex Sans"/>
              </a:rPr>
              <a:t>Kde v kódu  </a:t>
            </a:r>
            <a:r>
              <a:rPr sz="1050" b="0" i="0">
                <a:solidFill>
                  <a:srgbClr val="14213D"/>
                </a:solidFill>
                <a:latin typeface="Consolas"/>
              </a:rPr>
              <a:t>app/ai/llm.py · app/ai/client.py (výběr přes AI_PROVIDER)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" y="632764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6607A"/>
                </a:solidFill>
                <a:latin typeface="IBM Plex Sans"/>
              </a:rPr>
              <a:t>DriveWise AI · Backend ·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13816" y="502920"/>
            <a:ext cx="1517904" cy="274320"/>
          </a:xfrm>
          <a:prstGeom prst="roundRect">
            <a:avLst>
              <a:gd name="adj" fmla="val 50000"/>
            </a:avLst>
          </a:prstGeom>
          <a:solidFill>
            <a:srgbClr val="D8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3816" y="502920"/>
            <a:ext cx="1517904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 spc="100">
                <a:solidFill>
                  <a:srgbClr val="0B7A6E"/>
                </a:solidFill>
                <a:latin typeface="IBM Plex Sans"/>
              </a:rPr>
              <a:t>UI V PROCESU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896112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13D"/>
                </a:solidFill>
                <a:latin typeface="IBM Plex Sans"/>
              </a:rPr>
              <a:t>NiceGUI</a:t>
            </a:r>
            <a:r>
              <a:rPr sz="1700" b="0" i="0">
                <a:solidFill>
                  <a:srgbClr val="56607A"/>
                </a:solidFill>
                <a:latin typeface="IBM Plex Sans"/>
              </a:rPr>
              <a:t>   ≥ 3.16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1517904"/>
            <a:ext cx="10607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0B7A6E"/>
                </a:solidFill>
                <a:latin typeface="IBM Plex Sans"/>
              </a:rPr>
              <a:t>Webové UI napsané v Pythonu, na stejné FastAPI aplikaci.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" y="2057400"/>
            <a:ext cx="5440680" cy="3977639"/>
          </a:xfrm>
          <a:prstGeom prst="roundRect">
            <a:avLst>
              <a:gd name="adj" fmla="val 4000"/>
            </a:avLst>
          </a:prstGeom>
          <a:solidFill>
            <a:srgbClr val="FCFBF7"/>
          </a:solidFill>
          <a:ln w="9525">
            <a:solidFill>
              <a:srgbClr val="E2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58568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50">
                <a:solidFill>
                  <a:srgbClr val="56607A"/>
                </a:solidFill>
                <a:latin typeface="IBM Plex Sans"/>
              </a:rPr>
              <a:t>K ČEMU SLOUŽÍ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560320"/>
            <a:ext cx="49834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0" i="0">
                <a:solidFill>
                  <a:srgbClr val="14213D"/>
                </a:solidFill>
                <a:latin typeface="IBM Plex Sans"/>
              </a:rPr>
              <a:t>NiceGUI staví UI z Python kódu (pod kapotou Vue + Quasar) a synchronizuje ho s prohlížečem přes WebSocket. Žádný samostatný frontend proces.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611880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50">
                <a:solidFill>
                  <a:srgbClr val="56607A"/>
                </a:solidFill>
                <a:latin typeface="IBM Plex Sans"/>
              </a:rPr>
              <a:t>JAK HO POUŽÍVÁME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913632"/>
            <a:ext cx="49834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ui.run_with(app, mount_path="/") – mount jako poslední, za /api/*.</a:t>
            </a:r>
          </a:p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Jedna stránka @ui.page("/"); komponenty = funkce v app/ui/components.</a:t>
            </a:r>
          </a:p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Služby volá přímo in-process přes run.io_bound, aby neblokoval event loop.</a:t>
            </a:r>
          </a:p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app.storage.user drží přihlášení a pořadí řazení (podepsaná cookie).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2057400"/>
            <a:ext cx="4937760" cy="3337560"/>
          </a:xfrm>
          <a:prstGeom prst="roundRect">
            <a:avLst>
              <a:gd name="adj" fmla="val 4000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221992"/>
            <a:ext cx="4526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E0A526"/>
                </a:solidFill>
                <a:latin typeface="Consolas"/>
              </a:rPr>
              <a:t>backend/app/ui/pages.py · state.py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560320"/>
            <a:ext cx="452628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@ui.page("/")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async def index() -&gt; None: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with ui.column().classes(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        "flex h-screen w-full"):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    ...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# state.py – DB mimo event loop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saved = await run.io_bound(_load)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# main.py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ui.run_with(app, mount_path="/",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storage_secret=NICEGUI_STORAGE_SECRET)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5532120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56607A"/>
                </a:solidFill>
                <a:latin typeface="IBM Plex Sans"/>
              </a:rPr>
              <a:t>Kde v kódu  </a:t>
            </a:r>
            <a:r>
              <a:rPr sz="1050" b="0" i="0">
                <a:solidFill>
                  <a:srgbClr val="14213D"/>
                </a:solidFill>
                <a:latin typeface="Consolas"/>
              </a:rPr>
              <a:t>app/ui/ · app/main.py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" y="632764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6607A"/>
                </a:solidFill>
                <a:latin typeface="IBM Plex Sans"/>
              </a:rPr>
              <a:t>DriveWise AI · Backend ·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13816" y="502920"/>
            <a:ext cx="2670048" cy="274320"/>
          </a:xfrm>
          <a:prstGeom prst="roundRect">
            <a:avLst>
              <a:gd name="adj" fmla="val 50000"/>
            </a:avLst>
          </a:prstGeom>
          <a:solidFill>
            <a:srgbClr val="D8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3816" y="502920"/>
            <a:ext cx="2670048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 spc="100">
                <a:solidFill>
                  <a:srgbClr val="0B7A6E"/>
                </a:solidFill>
                <a:latin typeface="IBM Plex Sans"/>
              </a:rPr>
              <a:t>UI V PROCESU · STYLOVÁNÍ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896112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13D"/>
                </a:solidFill>
                <a:latin typeface="IBM Plex Sans"/>
              </a:rPr>
              <a:t>Tailwind CSS</a:t>
            </a:r>
            <a:r>
              <a:rPr sz="1700" b="0" i="0">
                <a:solidFill>
                  <a:srgbClr val="56607A"/>
                </a:solidFill>
                <a:latin typeface="IBM Plex Sans"/>
              </a:rPr>
              <a:t>   vestavěný v NiceGUI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1517904"/>
            <a:ext cx="10607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0B7A6E"/>
                </a:solidFill>
                <a:latin typeface="IBM Plex Sans"/>
              </a:rPr>
              <a:t>Utility třídy pro vzhled, napojené na design tokeny projektu.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" y="2057400"/>
            <a:ext cx="5440680" cy="3977639"/>
          </a:xfrm>
          <a:prstGeom prst="roundRect">
            <a:avLst>
              <a:gd name="adj" fmla="val 4000"/>
            </a:avLst>
          </a:prstGeom>
          <a:solidFill>
            <a:srgbClr val="FCFBF7"/>
          </a:solidFill>
          <a:ln w="9525">
            <a:solidFill>
              <a:srgbClr val="E2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58568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50">
                <a:solidFill>
                  <a:srgbClr val="56607A"/>
                </a:solidFill>
                <a:latin typeface="IBM Plex Sans"/>
              </a:rPr>
              <a:t>K ČEMU SLOUŽÍ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560320"/>
            <a:ext cx="49834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0" i="0">
                <a:solidFill>
                  <a:srgbClr val="14213D"/>
                </a:solidFill>
                <a:latin typeface="IBM Plex Sans"/>
              </a:rPr>
              <a:t>Tailwind skládá vzhled z malých tříd přímo v kódu (flex, gap-3, text-[13px]). NiceGUI ho obsahuje, nic se neinstaluje ani nebuilduje.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611880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50">
                <a:solidFill>
                  <a:srgbClr val="56607A"/>
                </a:solidFill>
                <a:latin typeface="IBM Plex Sans"/>
              </a:rPr>
              <a:t>JAK HO POUŽÍVÁME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913632"/>
            <a:ext cx="49834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.classes("…") na každém prvku UI.</a:t>
            </a:r>
          </a:p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Design tokeny (barvy, typografie) jako @theme blok v app/ui/styles.py.</a:t>
            </a:r>
          </a:p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Sémantické třídy bg-bg, text-text, text-subtext místo natvrdo barev.</a:t>
            </a:r>
          </a:p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Zdroj pravdy pro hodnoty: doc/design-tokens.md.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2057400"/>
            <a:ext cx="4937760" cy="3337560"/>
          </a:xfrm>
          <a:prstGeom prst="roundRect">
            <a:avLst>
              <a:gd name="adj" fmla="val 4000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221992"/>
            <a:ext cx="4526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E0A526"/>
                </a:solidFill>
                <a:latin typeface="Consolas"/>
              </a:rPr>
              <a:t>backend/app/ui/components/api_key_dialog.py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560320"/>
            <a:ext cx="452628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ui.label(t("apiKey.title",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       provider=provider)) \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.classes("text-[17px] font-bold "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       "text-text")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# styles.py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ui.add_head_html(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f'&lt;style type="text/tailwindcss"&gt;'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f'{CSS}&lt;/style&gt;')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5532120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56607A"/>
                </a:solidFill>
                <a:latin typeface="IBM Plex Sans"/>
              </a:rPr>
              <a:t>Kde v kódu  </a:t>
            </a:r>
            <a:r>
              <a:rPr sz="1050" b="0" i="0">
                <a:solidFill>
                  <a:srgbClr val="14213D"/>
                </a:solidFill>
                <a:latin typeface="Consolas"/>
              </a:rPr>
              <a:t>app/ui/styles.py · app/ui/components/*.py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" y="632764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6607A"/>
                </a:solidFill>
                <a:latin typeface="IBM Plex Sans"/>
              </a:rPr>
              <a:t>DriveWise AI · Backend ·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13816" y="502920"/>
            <a:ext cx="2766060" cy="274320"/>
          </a:xfrm>
          <a:prstGeom prst="roundRect">
            <a:avLst>
              <a:gd name="adj" fmla="val 50000"/>
            </a:avLst>
          </a:prstGeom>
          <a:solidFill>
            <a:srgbClr val="D8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3816" y="502920"/>
            <a:ext cx="276606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 spc="100">
                <a:solidFill>
                  <a:srgbClr val="0B7A6E"/>
                </a:solidFill>
                <a:latin typeface="IBM Plex Sans"/>
              </a:rPr>
              <a:t>UI V PROCESU · LOKALIZACE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896112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13D"/>
                </a:solidFill>
                <a:latin typeface="IBM Plex Sans"/>
              </a:rPr>
              <a:t>Babel</a:t>
            </a:r>
            <a:r>
              <a:rPr sz="1700" b="0" i="0">
                <a:solidFill>
                  <a:srgbClr val="56607A"/>
                </a:solidFill>
                <a:latin typeface="IBM Plex Sans"/>
              </a:rPr>
              <a:t>   ≥ 2.14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1517904"/>
            <a:ext cx="10607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0B7A6E"/>
                </a:solidFill>
                <a:latin typeface="IBM Plex Sans"/>
              </a:rPr>
              <a:t>Formátování čísel a měn podle české lokalizace.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" y="2057400"/>
            <a:ext cx="5440680" cy="3977639"/>
          </a:xfrm>
          <a:prstGeom prst="roundRect">
            <a:avLst>
              <a:gd name="adj" fmla="val 4000"/>
            </a:avLst>
          </a:prstGeom>
          <a:solidFill>
            <a:srgbClr val="FCFBF7"/>
          </a:solidFill>
          <a:ln w="9525">
            <a:solidFill>
              <a:srgbClr val="E2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58568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50">
                <a:solidFill>
                  <a:srgbClr val="56607A"/>
                </a:solidFill>
                <a:latin typeface="IBM Plex Sans"/>
              </a:rPr>
              <a:t>K ČEMU SLOUŽÍ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560320"/>
            <a:ext cx="49834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0" i="0">
                <a:solidFill>
                  <a:srgbClr val="14213D"/>
                </a:solidFill>
                <a:latin typeface="IBM Plex Sans"/>
              </a:rPr>
              <a:t>Babel obsahuje data CLDR pro lokalizace: oddělovače tisíců, symboly měn, pořadí čísla a symbolu. Díky němu je cena „824 900 Kč“.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611880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50">
                <a:solidFill>
                  <a:srgbClr val="56607A"/>
                </a:solidFill>
                <a:latin typeface="IBM Plex Sans"/>
              </a:rPr>
              <a:t>JAK HO POUŽÍVÁME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913632"/>
            <a:ext cx="49834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format_money(Money) je jediný způsob, jak zobrazit cenu.</a:t>
            </a:r>
          </a:p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format_decimal + get_currency_symbol – bez haléřů (format_currency je vždy přidává).</a:t>
            </a:r>
          </a:p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Lokalizace cs_CZ; měna z modelu Money, nikdy natvrdo „Kč“.</a:t>
            </a:r>
          </a:p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Pokryto testem tests/ui/test_money.py.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2057400"/>
            <a:ext cx="4937760" cy="3337560"/>
          </a:xfrm>
          <a:prstGeom prst="roundRect">
            <a:avLst>
              <a:gd name="adj" fmla="val 4000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221992"/>
            <a:ext cx="4526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E0A526"/>
                </a:solidFill>
                <a:latin typeface="Consolas"/>
              </a:rPr>
              <a:t>backend/app/ui/money.py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560320"/>
            <a:ext cx="452628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from babel.numbers import (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format_decimal, get_currency_symbol)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def format_money(money: Money,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             locale="cs_CZ") -&gt; str: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amount = format_decimal(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    round(money.amount), locale=locale)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symbol = get_currency_symbol(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    money.currency, locale=locale)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return f"{amount} {symbol}"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5532120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56607A"/>
                </a:solidFill>
                <a:latin typeface="IBM Plex Sans"/>
              </a:rPr>
              <a:t>Kde v kódu  </a:t>
            </a:r>
            <a:r>
              <a:rPr sz="1050" b="0" i="0">
                <a:solidFill>
                  <a:srgbClr val="14213D"/>
                </a:solidFill>
                <a:latin typeface="Consolas"/>
              </a:rPr>
              <a:t>app/ui/money.py · tests/ui/test_money.py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" y="632764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6607A"/>
                </a:solidFill>
                <a:latin typeface="IBM Plex Sans"/>
              </a:rPr>
              <a:t>DriveWise AI · Backend ·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13816" y="502920"/>
            <a:ext cx="3054096" cy="274320"/>
          </a:xfrm>
          <a:prstGeom prst="roundRect">
            <a:avLst>
              <a:gd name="adj" fmla="val 50000"/>
            </a:avLst>
          </a:prstGeom>
          <a:solidFill>
            <a:srgbClr val="E4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3816" y="502920"/>
            <a:ext cx="3054096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 spc="100">
                <a:solidFill>
                  <a:srgbClr val="3A4665"/>
                </a:solidFill>
                <a:latin typeface="IBM Plex Sans"/>
              </a:rPr>
              <a:t>E-MAIL · STANDARDNÍ KNIHOVNA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896112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13D"/>
                </a:solidFill>
                <a:latin typeface="IBM Plex Sans"/>
              </a:rPr>
              <a:t>smtplib + email</a:t>
            </a:r>
            <a:r>
              <a:rPr sz="1700" b="0" i="0">
                <a:solidFill>
                  <a:srgbClr val="56607A"/>
                </a:solidFill>
                <a:latin typeface="IBM Plex Sans"/>
              </a:rPr>
              <a:t>   Python stdlib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1517904"/>
            <a:ext cx="10607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0B7A6E"/>
                </a:solidFill>
                <a:latin typeface="IBM Plex Sans"/>
              </a:rPr>
              <a:t>Odeslání přihlašovacího kódu e-mailem přes SMTP.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" y="2057400"/>
            <a:ext cx="5440680" cy="3977639"/>
          </a:xfrm>
          <a:prstGeom prst="roundRect">
            <a:avLst>
              <a:gd name="adj" fmla="val 4000"/>
            </a:avLst>
          </a:prstGeom>
          <a:solidFill>
            <a:srgbClr val="FCFBF7"/>
          </a:solidFill>
          <a:ln w="9525">
            <a:solidFill>
              <a:srgbClr val="E2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58568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50">
                <a:solidFill>
                  <a:srgbClr val="56607A"/>
                </a:solidFill>
                <a:latin typeface="IBM Plex Sans"/>
              </a:rPr>
              <a:t>K ČEMU SLOUŽÍ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560320"/>
            <a:ext cx="49834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0" i="0">
                <a:solidFill>
                  <a:srgbClr val="14213D"/>
                </a:solidFill>
                <a:latin typeface="IBM Plex Sans"/>
              </a:rPr>
              <a:t>smtplib mluví s SMTP serverem, email skládá zprávu (EmailMessage) s textovou i HTML částí. Stačí libovolný SMTP účet – Seznam, Gmail, Resend, Brevo 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611880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50">
                <a:solidFill>
                  <a:srgbClr val="56607A"/>
                </a:solidFill>
                <a:latin typeface="IBM Plex Sans"/>
              </a:rPr>
              <a:t>JAK HO POUŽÍVÁME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913632"/>
            <a:ext cx="49834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EMAIL_BACKEND=console jen vypíše kód do logu (výchozí pro vývoj).</a:t>
            </a:r>
          </a:p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EMAIL_BACKEND=smtp: starttls (587), ssl (465), nebo none (25).</a:t>
            </a:r>
          </a:p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Chyby spojení, TLS i autentizace → EmailDeliveryError.</a:t>
            </a:r>
          </a:p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scripts/send_test_email.py ověří nastavení mimo aplikaci.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2057400"/>
            <a:ext cx="4937760" cy="3337560"/>
          </a:xfrm>
          <a:prstGeom prst="roundRect">
            <a:avLst>
              <a:gd name="adj" fmla="val 4000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221992"/>
            <a:ext cx="4526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E0A526"/>
                </a:solidFill>
                <a:latin typeface="Consolas"/>
              </a:rPr>
              <a:t>backend/app/services/mailer.py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560320"/>
            <a:ext cx="452628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if self._security == "ssl":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smtp = smtplib.SMTP_SSL(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    self._host, self._port,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    timeout=SMTP_TIMEOUT_SECONDS,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    context=context)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else: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smtp = smtplib.SMTP(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    self._host, self._port,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    timeout=SMTP_TIMEOUT_SECONDS)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# + starttls(context=context)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5532120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56607A"/>
                </a:solidFill>
                <a:latin typeface="IBM Plex Sans"/>
              </a:rPr>
              <a:t>Kde v kódu  </a:t>
            </a:r>
            <a:r>
              <a:rPr sz="1050" b="0" i="0">
                <a:solidFill>
                  <a:srgbClr val="14213D"/>
                </a:solidFill>
                <a:latin typeface="Consolas"/>
              </a:rPr>
              <a:t>app/services/mailer.py · scripts/send_test_email.py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" y="632764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6607A"/>
                </a:solidFill>
                <a:latin typeface="IBM Plex Sans"/>
              </a:rPr>
              <a:t>DriveWise AI · Backend ·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13816" y="502920"/>
            <a:ext cx="2574036" cy="274320"/>
          </a:xfrm>
          <a:prstGeom prst="roundRect">
            <a:avLst>
              <a:gd name="adj" fmla="val 50000"/>
            </a:avLst>
          </a:prstGeom>
          <a:solidFill>
            <a:srgbClr val="E4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3816" y="502920"/>
            <a:ext cx="2574036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 spc="100">
                <a:solidFill>
                  <a:srgbClr val="3A4665"/>
                </a:solidFill>
                <a:latin typeface="IBM Plex Sans"/>
              </a:rPr>
              <a:t>E-MAIL · EXTERNÍ SLUŽBA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896112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13D"/>
                </a:solidFill>
                <a:latin typeface="IBM Plex Sans"/>
              </a:rPr>
              <a:t>SMTP poskytovatelé</a:t>
            </a:r>
            <a:r>
              <a:rPr sz="1700" b="0" i="0">
                <a:solidFill>
                  <a:srgbClr val="56607A"/>
                </a:solidFill>
                <a:latin typeface="IBM Plex Sans"/>
              </a:rPr>
              <a:t>   Seznam · Gmail · Resend · Brevo 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1517904"/>
            <a:ext cx="10607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0B7A6E"/>
                </a:solidFill>
                <a:latin typeface="IBM Plex Sans"/>
              </a:rPr>
              <a:t>Služba, která přihlašovací kód skutečně doručí do schránky.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" y="2057400"/>
            <a:ext cx="5440680" cy="3977639"/>
          </a:xfrm>
          <a:prstGeom prst="roundRect">
            <a:avLst>
              <a:gd name="adj" fmla="val 4000"/>
            </a:avLst>
          </a:prstGeom>
          <a:solidFill>
            <a:srgbClr val="FCFBF7"/>
          </a:solidFill>
          <a:ln w="9525">
            <a:solidFill>
              <a:srgbClr val="E2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58568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50">
                <a:solidFill>
                  <a:srgbClr val="56607A"/>
                </a:solidFill>
                <a:latin typeface="IBM Plex Sans"/>
              </a:rPr>
              <a:t>K ČEMU SLOUŽÍ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560320"/>
            <a:ext cx="49834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0" i="0">
                <a:solidFill>
                  <a:srgbClr val="14213D"/>
                </a:solidFill>
                <a:latin typeface="IBM Plex Sans"/>
              </a:rPr>
              <a:t>Aplikace mluví čistým SMTP, takže poskytovatele volí konfigurace, ne kód. Poštovní schránka (Seznam, Gmail) stačí na vývoj, transakční služba (Resend, Brevo) na provoz.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611880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50">
                <a:solidFill>
                  <a:srgbClr val="56607A"/>
                </a:solidFill>
                <a:latin typeface="IBM Plex Sans"/>
              </a:rPr>
              <a:t>JAK HO POUŽÍVÁME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913632"/>
            <a:ext cx="49834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Seznam.cz: smtp.seznam.cz, ssl 465 / starttls 587, odesílatel = vlastní adresa.</a:t>
            </a:r>
          </a:p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Gmail: smtp.gmail.com, starttls 587, dvoufázové ověření + heslo aplikace.</a:t>
            </a:r>
          </a:p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Resend: smtp.resend.com, uživatel „resend“, heslo = API klíč.</a:t>
            </a:r>
          </a:p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Vlastní doména potřebuje SPF a DKIM, jinak kódy padají do spamu.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2057400"/>
            <a:ext cx="4937760" cy="3337560"/>
          </a:xfrm>
          <a:prstGeom prst="roundRect">
            <a:avLst>
              <a:gd name="adj" fmla="val 4000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221992"/>
            <a:ext cx="4526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E0A526"/>
                </a:solidFill>
                <a:latin typeface="Consolas"/>
              </a:rPr>
              <a:t>backend/.env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560320"/>
            <a:ext cx="452628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EMAIL_BACKEND=smtp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SMTP_HOST=smtp.seznam.cz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SMTP_SECURITY=ssl        # nebo starttls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SMTP_USER=you@seznam.cz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SMTP_PASSWORD=...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SMTP_FROM_NAME=Rovis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# ověření bez přihlašování v aplikaci: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python scripts/send_test_email.py \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you@example.cz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5532120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56607A"/>
                </a:solidFill>
                <a:latin typeface="IBM Plex Sans"/>
              </a:rPr>
              <a:t>Kde v kódu  </a:t>
            </a:r>
            <a:r>
              <a:rPr sz="1050" b="0" i="0">
                <a:solidFill>
                  <a:srgbClr val="14213D"/>
                </a:solidFill>
                <a:latin typeface="Consolas"/>
              </a:rPr>
              <a:t>backend/.env.example · scripts/send_test_email.py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" y="632764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6607A"/>
                </a:solidFill>
                <a:latin typeface="IBM Plex Sans"/>
              </a:rPr>
              <a:t>DriveWise AI · Backend ·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13816" y="502920"/>
            <a:ext cx="2382012" cy="274320"/>
          </a:xfrm>
          <a:prstGeom prst="roundRect">
            <a:avLst>
              <a:gd name="adj" fmla="val 50000"/>
            </a:avLst>
          </a:prstGeom>
          <a:solidFill>
            <a:srgbClr val="E4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3816" y="502920"/>
            <a:ext cx="2382012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 spc="100">
                <a:solidFill>
                  <a:srgbClr val="3A4665"/>
                </a:solidFill>
                <a:latin typeface="IBM Plex Sans"/>
              </a:rPr>
              <a:t>E-MAIL · DŮVĚRA V TLS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896112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13D"/>
                </a:solidFill>
                <a:latin typeface="IBM Plex Sans"/>
              </a:rPr>
              <a:t>certifi</a:t>
            </a:r>
            <a:r>
              <a:rPr sz="1700" b="0" i="0">
                <a:solidFill>
                  <a:srgbClr val="56607A"/>
                </a:solidFill>
                <a:latin typeface="IBM Plex Sans"/>
              </a:rPr>
              <a:t>   ≥ 2024.2.2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1517904"/>
            <a:ext cx="10607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0B7A6E"/>
                </a:solidFill>
                <a:latin typeface="IBM Plex Sans"/>
              </a:rPr>
              <a:t>Aktuální sada kořenových certifikátů pro ověření SMTP serveru.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" y="2057400"/>
            <a:ext cx="5440680" cy="3977639"/>
          </a:xfrm>
          <a:prstGeom prst="roundRect">
            <a:avLst>
              <a:gd name="adj" fmla="val 4000"/>
            </a:avLst>
          </a:prstGeom>
          <a:solidFill>
            <a:srgbClr val="FCFBF7"/>
          </a:solidFill>
          <a:ln w="9525">
            <a:solidFill>
              <a:srgbClr val="E2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58568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50">
                <a:solidFill>
                  <a:srgbClr val="56607A"/>
                </a:solidFill>
                <a:latin typeface="IBM Plex Sans"/>
              </a:rPr>
              <a:t>K ČEMU SLOUŽÍ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560320"/>
            <a:ext cx="49834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0" i="0">
                <a:solidFill>
                  <a:srgbClr val="14213D"/>
                </a:solidFill>
                <a:latin typeface="IBM Plex Sans"/>
              </a:rPr>
              <a:t>certifi dodává balík důvěryhodných certifikačních autorit (Mozilla). Nezávisí na tom, jak starý je certifikační store operačního systému.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611880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50">
                <a:solidFill>
                  <a:srgbClr val="56607A"/>
                </a:solidFill>
                <a:latin typeface="IBM Plex Sans"/>
              </a:rPr>
              <a:t>JAK HO POUŽÍVÁME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913632"/>
            <a:ext cx="49834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SSL kontext pro SMTP je postaven nad certifi.where().</a:t>
            </a:r>
          </a:p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Ověření certifikátu i hostname zůstává zapnuté.</a:t>
            </a:r>
          </a:p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Řeší selhání na Windows, kde systém nezná nově vydanou CA.</a:t>
            </a:r>
          </a:p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Testy mohou podvrhnout vlastní ssl_context (self-signed).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2057400"/>
            <a:ext cx="4937760" cy="3337560"/>
          </a:xfrm>
          <a:prstGeom prst="roundRect">
            <a:avLst>
              <a:gd name="adj" fmla="val 4000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221992"/>
            <a:ext cx="4526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E0A526"/>
                </a:solidFill>
                <a:latin typeface="Consolas"/>
              </a:rPr>
              <a:t>backend/app/services/mailer.py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560320"/>
            <a:ext cx="452628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import certifi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import ssl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def _default_ssl_context() -&gt; ssl.SSLContext: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return ssl.create_default_context(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    cafile=certifi.where())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5532120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56607A"/>
                </a:solidFill>
                <a:latin typeface="IBM Plex Sans"/>
              </a:rPr>
              <a:t>Kde v kódu  </a:t>
            </a:r>
            <a:r>
              <a:rPr sz="1050" b="0" i="0">
                <a:solidFill>
                  <a:srgbClr val="14213D"/>
                </a:solidFill>
                <a:latin typeface="Consolas"/>
              </a:rPr>
              <a:t>app/services/mailer.py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" y="632764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6607A"/>
                </a:solidFill>
                <a:latin typeface="IBM Plex Sans"/>
              </a:rPr>
              <a:t>DriveWise AI · Backend ·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13816" y="502920"/>
            <a:ext cx="3438144" cy="274320"/>
          </a:xfrm>
          <a:prstGeom prst="roundRect">
            <a:avLst>
              <a:gd name="adj" fmla="val 50000"/>
            </a:avLst>
          </a:prstGeom>
          <a:solidFill>
            <a:srgbClr val="E4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3816" y="502920"/>
            <a:ext cx="3438144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 spc="100">
                <a:solidFill>
                  <a:srgbClr val="3A4665"/>
                </a:solidFill>
                <a:latin typeface="IBM Plex Sans"/>
              </a:rPr>
              <a:t>PŘIHLÁŠENÍ · STANDARDNÍ KNIHOVNA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896112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13D"/>
                </a:solidFill>
                <a:latin typeface="IBM Plex Sans"/>
              </a:rPr>
              <a:t>hmac + secrets</a:t>
            </a:r>
            <a:r>
              <a:rPr sz="1700" b="0" i="0">
                <a:solidFill>
                  <a:srgbClr val="56607A"/>
                </a:solidFill>
                <a:latin typeface="IBM Plex Sans"/>
              </a:rPr>
              <a:t>   Python stdlib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1517904"/>
            <a:ext cx="10607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0B7A6E"/>
                </a:solidFill>
                <a:latin typeface="IBM Plex Sans"/>
              </a:rPr>
              <a:t>Generování a bezpečné uložení jednorázových přihlašovacích kódů.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" y="2057400"/>
            <a:ext cx="5440680" cy="3977639"/>
          </a:xfrm>
          <a:prstGeom prst="roundRect">
            <a:avLst>
              <a:gd name="adj" fmla="val 4000"/>
            </a:avLst>
          </a:prstGeom>
          <a:solidFill>
            <a:srgbClr val="FCFBF7"/>
          </a:solidFill>
          <a:ln w="9525">
            <a:solidFill>
              <a:srgbClr val="E2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58568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50">
                <a:solidFill>
                  <a:srgbClr val="56607A"/>
                </a:solidFill>
                <a:latin typeface="IBM Plex Sans"/>
              </a:rPr>
              <a:t>K ČEMU SLOUŽÍ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560320"/>
            <a:ext cx="49834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0" i="0">
                <a:solidFill>
                  <a:srgbClr val="14213D"/>
                </a:solidFill>
                <a:latin typeface="IBM Plex Sans"/>
              </a:rPr>
              <a:t>secrets generuje kryptograficky náhodná čísla, hmac + hashlib počítá klíčovaný hash. V databázi je jen hash kódu, nikdy kód samotný.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611880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50">
                <a:solidFill>
                  <a:srgbClr val="56607A"/>
                </a:solidFill>
                <a:latin typeface="IBM Plex Sans"/>
              </a:rPr>
              <a:t>JAK HO POUŽÍVÁME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913632"/>
            <a:ext cx="49834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Kód = 6 číslic ze secrets.randbelow(10**6).</a:t>
            </a:r>
          </a:p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HMAC-SHA256 s AUTH_SECRET: uniklá tabulka je bez klíče k ničemu.</a:t>
            </a:r>
          </a:p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compare_digest porovnává v konstantním čase.</a:t>
            </a:r>
          </a:p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Platnost 10 min, 5 pokusů, limit žádostí na e-mail i IP.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2057400"/>
            <a:ext cx="4937760" cy="3337560"/>
          </a:xfrm>
          <a:prstGeom prst="roundRect">
            <a:avLst>
              <a:gd name="adj" fmla="val 4000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221992"/>
            <a:ext cx="4526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E0A526"/>
                </a:solidFill>
                <a:latin typeface="Consolas"/>
              </a:rPr>
              <a:t>backend/app/services/auth.py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560320"/>
            <a:ext cx="452628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code = f"{secrets.randbelow(10**6):06d}"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def _hash_code(address, code) -&gt; str: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return hmac.new(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    config.AUTH_SECRET.encode(),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    f"{address}:{code}".encode(),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    hashlib.sha256).hexdigest()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ok = hmac.compare_digest(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self._hash_code(address, entered),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row.code_hash)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5532120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56607A"/>
                </a:solidFill>
                <a:latin typeface="IBM Plex Sans"/>
              </a:rPr>
              <a:t>Kde v kódu  </a:t>
            </a:r>
            <a:r>
              <a:rPr sz="1050" b="0" i="0">
                <a:solidFill>
                  <a:srgbClr val="14213D"/>
                </a:solidFill>
                <a:latin typeface="Consolas"/>
              </a:rPr>
              <a:t>app/services/auth.py · app/models/login_code.py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" y="632764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6607A"/>
                </a:solidFill>
                <a:latin typeface="IBM Plex Sans"/>
              </a:rPr>
              <a:t>DriveWise AI · Backend ·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13816" y="502920"/>
            <a:ext cx="1997964" cy="274320"/>
          </a:xfrm>
          <a:prstGeom prst="roundRect">
            <a:avLst>
              <a:gd name="adj" fmla="val 50000"/>
            </a:avLst>
          </a:prstGeom>
          <a:solidFill>
            <a:srgbClr val="DD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3816" y="502920"/>
            <a:ext cx="1997964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 spc="100">
                <a:solidFill>
                  <a:srgbClr val="2B3F73"/>
                </a:solidFill>
                <a:latin typeface="IBM Plex Sans"/>
              </a:rPr>
              <a:t>TESTY ·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896112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13D"/>
                </a:solidFill>
                <a:latin typeface="IBM Plex Sans"/>
              </a:rPr>
              <a:t>pytest</a:t>
            </a:r>
            <a:r>
              <a:rPr sz="1700" b="0" i="0">
                <a:solidFill>
                  <a:srgbClr val="56607A"/>
                </a:solidFill>
                <a:latin typeface="IBM Plex Sans"/>
              </a:rPr>
              <a:t>   ≥ 8.3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1517904"/>
            <a:ext cx="10607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0B7A6E"/>
                </a:solidFill>
                <a:latin typeface="IBM Plex Sans"/>
              </a:rPr>
              <a:t>Testovací framework pro backend, UI i scraper.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" y="2057400"/>
            <a:ext cx="5440680" cy="3977639"/>
          </a:xfrm>
          <a:prstGeom prst="roundRect">
            <a:avLst>
              <a:gd name="adj" fmla="val 4000"/>
            </a:avLst>
          </a:prstGeom>
          <a:solidFill>
            <a:srgbClr val="FCFBF7"/>
          </a:solidFill>
          <a:ln w="9525">
            <a:solidFill>
              <a:srgbClr val="E2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58568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50">
                <a:solidFill>
                  <a:srgbClr val="56607A"/>
                </a:solidFill>
                <a:latin typeface="IBM Plex Sans"/>
              </a:rPr>
              <a:t>K ČEMU SLOUŽÍ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560320"/>
            <a:ext cx="49834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0" i="0">
                <a:solidFill>
                  <a:srgbClr val="14213D"/>
                </a:solidFill>
                <a:latin typeface="IBM Plex Sans"/>
              </a:rPr>
              <a:t>pytest najde funkce test_* a spustí je. Fixtures připravují prostředí (databázi, klienta) a parametrize spouští jeden test s více vstupy.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611880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50">
                <a:solidFill>
                  <a:srgbClr val="56607A"/>
                </a:solidFill>
                <a:latin typeface="IBM Plex Sans"/>
              </a:rPr>
              <a:t>JAK HO POUŽÍVÁME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913632"/>
            <a:ext cx="49834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Každý test dostane čerstvou in-memory SQLite s ukázkovými daty.</a:t>
            </a:r>
          </a:p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Fixture client = FastAPI TestClient s podvrženým get_db.</a:t>
            </a:r>
          </a:p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Testy API, enginu, konverzace, AI klienta, přihlášení i mailu.</a:t>
            </a:r>
          </a:p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Pravidlo: testy musí projít, než je úkol hotový.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2057400"/>
            <a:ext cx="4937760" cy="3337560"/>
          </a:xfrm>
          <a:prstGeom prst="roundRect">
            <a:avLst>
              <a:gd name="adj" fmla="val 4000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221992"/>
            <a:ext cx="4526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E0A526"/>
                </a:solidFill>
                <a:latin typeface="Consolas"/>
              </a:rPr>
              <a:t>backend/tests/conftest.py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560320"/>
            <a:ext cx="452628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@pytest.fixture()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def db_session():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engine = create_engine("sqlite://",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    poolclass=StaticPool, ...)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Base.metadata.create_all(engine)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...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def test_list_brands(client: TestClient):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r = client.get("/api/brands")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assert r.status_code == 200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5532120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56607A"/>
                </a:solidFill>
                <a:latin typeface="IBM Plex Sans"/>
              </a:rPr>
              <a:t>Kde v kódu  </a:t>
            </a:r>
            <a:r>
              <a:rPr sz="1050" b="0" i="0">
                <a:solidFill>
                  <a:srgbClr val="14213D"/>
                </a:solidFill>
                <a:latin typeface="Consolas"/>
              </a:rPr>
              <a:t>backend/tests/ · spuštění: cd backend &amp;&amp; pytest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" y="632764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6607A"/>
                </a:solidFill>
                <a:latin typeface="IBM Plex Sans"/>
              </a:rPr>
              <a:t>DriveWise AI · Backend ·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13816" y="502920"/>
            <a:ext cx="2478024" cy="274320"/>
          </a:xfrm>
          <a:prstGeom prst="roundRect">
            <a:avLst>
              <a:gd name="adj" fmla="val 50000"/>
            </a:avLst>
          </a:prstGeom>
          <a:solidFill>
            <a:srgbClr val="DD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3816" y="502920"/>
            <a:ext cx="2478024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 spc="100">
                <a:solidFill>
                  <a:srgbClr val="2B3F73"/>
                </a:solidFill>
                <a:latin typeface="IBM Plex Sans"/>
              </a:rPr>
              <a:t>TESTY · ASYNCHRONNÍ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896112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13D"/>
                </a:solidFill>
                <a:latin typeface="IBM Plex Sans"/>
              </a:rPr>
              <a:t>pytest-asyncio</a:t>
            </a:r>
            <a:r>
              <a:rPr sz="1700" b="0" i="0">
                <a:solidFill>
                  <a:srgbClr val="56607A"/>
                </a:solidFill>
                <a:latin typeface="IBM Plex Sans"/>
              </a:rPr>
              <a:t>   ≥ 0.23 + NiceGUI user plugin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1517904"/>
            <a:ext cx="10607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0B7A6E"/>
                </a:solidFill>
                <a:latin typeface="IBM Plex Sans"/>
              </a:rPr>
              <a:t>Spouští async testy UI vrstvy bez prohlížeče.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" y="2057400"/>
            <a:ext cx="5440680" cy="3977639"/>
          </a:xfrm>
          <a:prstGeom prst="roundRect">
            <a:avLst>
              <a:gd name="adj" fmla="val 4000"/>
            </a:avLst>
          </a:prstGeom>
          <a:solidFill>
            <a:srgbClr val="FCFBF7"/>
          </a:solidFill>
          <a:ln w="9525">
            <a:solidFill>
              <a:srgbClr val="E2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58568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50">
                <a:solidFill>
                  <a:srgbClr val="56607A"/>
                </a:solidFill>
                <a:latin typeface="IBM Plex Sans"/>
              </a:rPr>
              <a:t>K ČEMU SLOUŽÍ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560320"/>
            <a:ext cx="49834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0" i="0">
                <a:solidFill>
                  <a:srgbClr val="14213D"/>
                </a:solidFill>
                <a:latin typeface="IBM Plex Sans"/>
              </a:rPr>
              <a:t>pytest-asyncio umí spustit async def testy. Plugin nicegui.testing.user_plugin přidává fixture User, která simuluje prohlížeč bez skutečného okna.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611880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50">
                <a:solidFill>
                  <a:srgbClr val="56607A"/>
                </a:solidFill>
                <a:latin typeface="IBM Plex Sans"/>
              </a:rPr>
              <a:t>JAK HO POUŽÍVÁME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913632"/>
            <a:ext cx="49834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asyncio_mode = "auto" – není potřeba značit každý test.</a:t>
            </a:r>
          </a:p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Stav UI (ConversationState, CatalogState) proti skutečným službám.</a:t>
            </a:r>
          </a:p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Přihlášení a admin zeď přes User fixture (user.open, should_see).</a:t>
            </a:r>
          </a:p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Kódy z e-mailu se čtou z testovací schránky inbox.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2057400"/>
            <a:ext cx="4937760" cy="3337560"/>
          </a:xfrm>
          <a:prstGeom prst="roundRect">
            <a:avLst>
              <a:gd name="adj" fmla="val 4000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221992"/>
            <a:ext cx="4526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E0A526"/>
                </a:solidFill>
                <a:latin typeface="Consolas"/>
              </a:rPr>
              <a:t>backend/tests/ui/test_login.py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560320"/>
            <a:ext cx="452628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# pyproject.toml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asyncio_mode = "auto"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addopts = "-p nicegui.testing.user_plugin"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async def test_login(user: User):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await user.open("/")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await user.should_see("Přihlásit se")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await user.should_not_see("Admin")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5532120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56607A"/>
                </a:solidFill>
                <a:latin typeface="IBM Plex Sans"/>
              </a:rPr>
              <a:t>Kde v kódu  </a:t>
            </a:r>
            <a:r>
              <a:rPr sz="1050" b="0" i="0">
                <a:solidFill>
                  <a:srgbClr val="14213D"/>
                </a:solidFill>
                <a:latin typeface="Consolas"/>
              </a:rPr>
              <a:t>backend/tests/ui/ · pyproject.toml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" y="632764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6607A"/>
                </a:solidFill>
                <a:latin typeface="IBM Plex Sans"/>
              </a:rPr>
              <a:t>DriveWise AI · Backend ·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13816" y="502920"/>
            <a:ext cx="1517904" cy="274320"/>
          </a:xfrm>
          <a:prstGeom prst="roundRect">
            <a:avLst>
              <a:gd name="adj" fmla="val 50000"/>
            </a:avLst>
          </a:prstGeom>
          <a:solidFill>
            <a:srgbClr val="DD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3816" y="502920"/>
            <a:ext cx="1517904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 spc="100">
                <a:solidFill>
                  <a:srgbClr val="2B3F73"/>
                </a:solidFill>
                <a:latin typeface="IBM Plex Sans"/>
              </a:rPr>
              <a:t>TESTY · HTTP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896112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13D"/>
                </a:solidFill>
                <a:latin typeface="IBM Plex Sans"/>
              </a:rPr>
              <a:t>httpx</a:t>
            </a:r>
            <a:r>
              <a:rPr sz="1700" b="0" i="0">
                <a:solidFill>
                  <a:srgbClr val="56607A"/>
                </a:solidFill>
                <a:latin typeface="IBM Plex Sans"/>
              </a:rPr>
              <a:t>   ≥ 0.27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1517904"/>
            <a:ext cx="10607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0B7A6E"/>
                </a:solidFill>
                <a:latin typeface="IBM Plex Sans"/>
              </a:rPr>
              <a:t>HTTP klient pod FastAPI TestClientem i pod AI SDK.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" y="2057400"/>
            <a:ext cx="5440680" cy="3977639"/>
          </a:xfrm>
          <a:prstGeom prst="roundRect">
            <a:avLst>
              <a:gd name="adj" fmla="val 4000"/>
            </a:avLst>
          </a:prstGeom>
          <a:solidFill>
            <a:srgbClr val="FCFBF7"/>
          </a:solidFill>
          <a:ln w="9525">
            <a:solidFill>
              <a:srgbClr val="E2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58568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50">
                <a:solidFill>
                  <a:srgbClr val="56607A"/>
                </a:solidFill>
                <a:latin typeface="IBM Plex Sans"/>
              </a:rPr>
              <a:t>K ČEMU SLOUŽÍ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560320"/>
            <a:ext cx="49834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0" i="0">
                <a:solidFill>
                  <a:srgbClr val="14213D"/>
                </a:solidFill>
                <a:latin typeface="IBM Plex Sans"/>
              </a:rPr>
              <a:t>httpx je moderní HTTP klient. FastAPI TestClient na něm stojí a volá aplikaci přímo v paměti, bez sítě. Používají ho i SDK Anthropic a Groq.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611880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50">
                <a:solidFill>
                  <a:srgbClr val="56607A"/>
                </a:solidFill>
                <a:latin typeface="IBM Plex Sans"/>
              </a:rPr>
              <a:t>JAK HO POUŽÍVÁME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913632"/>
            <a:ext cx="49834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TestClient(app) posílá požadavky na /api/* bez běžícího serveru.</a:t>
            </a:r>
          </a:p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V testech AI klienta staví skutečné výjimky SDK (potřebují httpx.Response).</a:t>
            </a:r>
          </a:p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Tak se ověří mapování chyb 401 / 429 / 404 na AiProviderError.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2057400"/>
            <a:ext cx="4937760" cy="3337560"/>
          </a:xfrm>
          <a:prstGeom prst="roundRect">
            <a:avLst>
              <a:gd name="adj" fmla="val 4000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221992"/>
            <a:ext cx="4526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E0A526"/>
                </a:solidFill>
                <a:latin typeface="Consolas"/>
              </a:rPr>
              <a:t>backend/tests/test_ai_client.py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560320"/>
            <a:ext cx="452628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import httpx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response = httpx.Response(401,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request=httpx.Request(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    "POST", "http://test"))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exc = groq.AuthenticationError(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"Invalid API Key",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response=response, body=None)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# → AiProviderError("ai_invalid_key")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5532120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56607A"/>
                </a:solidFill>
                <a:latin typeface="IBM Plex Sans"/>
              </a:rPr>
              <a:t>Kde v kódu  </a:t>
            </a:r>
            <a:r>
              <a:rPr sz="1050" b="0" i="0">
                <a:solidFill>
                  <a:srgbClr val="14213D"/>
                </a:solidFill>
                <a:latin typeface="Consolas"/>
              </a:rPr>
              <a:t>tests/conftest.py · tests/test_ai_client.py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" y="632764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6607A"/>
                </a:solidFill>
                <a:latin typeface="IBM Plex Sans"/>
              </a:rPr>
              <a:t>DriveWise AI · Backend ·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13816" y="502920"/>
            <a:ext cx="1421892" cy="274320"/>
          </a:xfrm>
          <a:prstGeom prst="roundRect">
            <a:avLst>
              <a:gd name="adj" fmla="val 50000"/>
            </a:avLst>
          </a:prstGeom>
          <a:solidFill>
            <a:srgbClr val="DD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3816" y="502920"/>
            <a:ext cx="1421892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 spc="100">
                <a:solidFill>
                  <a:srgbClr val="2B3F73"/>
                </a:solidFill>
                <a:latin typeface="IBM Plex Sans"/>
              </a:rPr>
              <a:t>TESTY · TLS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896112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13D"/>
                </a:solidFill>
                <a:latin typeface="IBM Plex Sans"/>
              </a:rPr>
              <a:t>cryptography</a:t>
            </a:r>
            <a:r>
              <a:rPr sz="1700" b="0" i="0">
                <a:solidFill>
                  <a:srgbClr val="56607A"/>
                </a:solidFill>
                <a:latin typeface="IBM Plex Sans"/>
              </a:rPr>
              <a:t>   jen v testech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1517904"/>
            <a:ext cx="10607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0B7A6E"/>
                </a:solidFill>
                <a:latin typeface="IBM Plex Sans"/>
              </a:rPr>
              <a:t>Vyrobí self-signed certifikát pro test SMTP přes TLS.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" y="2057400"/>
            <a:ext cx="5440680" cy="3977639"/>
          </a:xfrm>
          <a:prstGeom prst="roundRect">
            <a:avLst>
              <a:gd name="adj" fmla="val 4000"/>
            </a:avLst>
          </a:prstGeom>
          <a:solidFill>
            <a:srgbClr val="FCFBF7"/>
          </a:solidFill>
          <a:ln w="9525">
            <a:solidFill>
              <a:srgbClr val="E2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58568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50">
                <a:solidFill>
                  <a:srgbClr val="56607A"/>
                </a:solidFill>
                <a:latin typeface="IBM Plex Sans"/>
              </a:rPr>
              <a:t>K ČEMU SLOUŽÍ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560320"/>
            <a:ext cx="49834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0" i="0">
                <a:solidFill>
                  <a:srgbClr val="14213D"/>
                </a:solidFill>
                <a:latin typeface="IBM Plex Sans"/>
              </a:rPr>
              <a:t>cryptography je knihovna kryptografických primitiv. V testu vytvoří dočasný certifikát pro 127.0.0.1, aby šlo ověřit skutečné TLS spojení.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611880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50">
                <a:solidFill>
                  <a:srgbClr val="56607A"/>
                </a:solidFill>
                <a:latin typeface="IBM Plex Sans"/>
              </a:rPr>
              <a:t>JAK HO POUŽÍVÁME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913632"/>
            <a:ext cx="49834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test_smtp_wire.py spustí lokální SMTP server s TLS.</a:t>
            </a:r>
          </a:p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Ověří starttls i ssl režim včetně kontroly certifikátu.</a:t>
            </a:r>
          </a:p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pytest.importorskip – bez knihovny se test přeskočí, nespadne.</a:t>
            </a:r>
          </a:p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0B7A6E"/>
              </a:buClr>
              <a:buFont typeface="Arial"/>
              <a:buChar char="•"/>
            </a:pPr>
            <a:r>
              <a:rPr sz="1250" b="0" i="0">
                <a:solidFill>
                  <a:srgbClr val="14213D"/>
                </a:solidFill>
                <a:latin typeface="IBM Plex Sans"/>
              </a:rPr>
              <a:t>Není v produkčních závislostech.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2057400"/>
            <a:ext cx="4937760" cy="3337560"/>
          </a:xfrm>
          <a:prstGeom prst="roundRect">
            <a:avLst>
              <a:gd name="adj" fmla="val 4000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221992"/>
            <a:ext cx="4526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E0A526"/>
                </a:solidFill>
                <a:latin typeface="Consolas"/>
              </a:rPr>
              <a:t>backend/tests/test_smtp_wire.py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560320"/>
            <a:ext cx="452628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pytest.importorskip("cryptography")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from cryptography import x509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key = ec.generate_private_key(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ec.SECP256R1())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cert = (x509.CertificateBuilder()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.subject_name(name)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.issuer_name(name)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.public_key(key.public_key())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...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1EA"/>
                </a:solidFill>
                <a:latin typeface="Consolas"/>
              </a:rPr>
              <a:t>    .sign(key, hashes.SHA256()))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5532120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56607A"/>
                </a:solidFill>
                <a:latin typeface="IBM Plex Sans"/>
              </a:rPr>
              <a:t>Kde v kódu  </a:t>
            </a:r>
            <a:r>
              <a:rPr sz="1050" b="0" i="0">
                <a:solidFill>
                  <a:srgbClr val="14213D"/>
                </a:solidFill>
                <a:latin typeface="Consolas"/>
              </a:rPr>
              <a:t>tests/test_smtp_wire.py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" y="632764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6607A"/>
                </a:solidFill>
                <a:latin typeface="IBM Plex Sans"/>
              </a:rPr>
              <a:t>DriveWise AI · Backend ·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3816" y="658368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3F1EA"/>
                </a:solidFill>
                <a:latin typeface="IBM Plex Sans"/>
              </a:rPr>
              <a:t>Proč právě takhle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3816" y="1536192"/>
            <a:ext cx="5175504" cy="1417320"/>
          </a:xfrm>
          <a:prstGeom prst="roundRect">
            <a:avLst>
              <a:gd name="adj" fmla="val 6000"/>
            </a:avLst>
          </a:prstGeom>
          <a:solidFill>
            <a:srgbClr val="162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" y="1792224"/>
            <a:ext cx="46634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E0A526"/>
                </a:solidFill>
                <a:latin typeface="IBM Plex Sans"/>
              </a:rPr>
              <a:t>Jeden jazyk, jeden proces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2176272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F3F1EA"/>
                </a:solidFill>
                <a:latin typeface="IBM Plex Sans"/>
              </a:rPr>
              <a:t>Python od databáze po UI. Uvicorn spouští FastAPI i NiceGUI – žádný Node.js ani druhý server.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9631" y="1536192"/>
            <a:ext cx="5175504" cy="1417320"/>
          </a:xfrm>
          <a:prstGeom prst="roundRect">
            <a:avLst>
              <a:gd name="adj" fmla="val 6000"/>
            </a:avLst>
          </a:prstGeom>
          <a:solidFill>
            <a:srgbClr val="162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55664" y="1792224"/>
            <a:ext cx="46634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E0A526"/>
                </a:solidFill>
                <a:latin typeface="IBM Plex Sans"/>
              </a:rPr>
              <a:t>Typy jako kontrakt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55664" y="2176272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F3F1EA"/>
                </a:solidFill>
                <a:latin typeface="IBM Plex Sans"/>
              </a:rPr>
              <a:t>Pydantic a SQLAlchemy 2 čtou stejné anotace. Chybná data se zastaví na hranici vrstvy.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" y="3163824"/>
            <a:ext cx="5175504" cy="1417320"/>
          </a:xfrm>
          <a:prstGeom prst="roundRect">
            <a:avLst>
              <a:gd name="adj" fmla="val 6000"/>
            </a:avLst>
          </a:prstGeom>
          <a:solidFill>
            <a:srgbClr val="162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3419856"/>
            <a:ext cx="46634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E0A526"/>
                </a:solidFill>
                <a:latin typeface="IBM Plex Sans"/>
              </a:rPr>
              <a:t>Databáze vyměnitelná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3803904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F3F1EA"/>
                </a:solidFill>
                <a:latin typeface="IBM Plex Sans"/>
              </a:rPr>
              <a:t>SQLite pro vývoj, PostgreSQL jako cíl. Stejné modely i migrace, jen jiné DATABASE_URL.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1" y="3163824"/>
            <a:ext cx="5175504" cy="1417320"/>
          </a:xfrm>
          <a:prstGeom prst="roundRect">
            <a:avLst>
              <a:gd name="adj" fmla="val 6000"/>
            </a:avLst>
          </a:prstGeom>
          <a:solidFill>
            <a:srgbClr val="162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5664" y="3419856"/>
            <a:ext cx="46634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E0A526"/>
                </a:solidFill>
                <a:latin typeface="IBM Plex Sans"/>
              </a:rPr>
              <a:t>AI za rozhraním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3803904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F3F1EA"/>
                </a:solidFill>
                <a:latin typeface="IBM Plex Sans"/>
              </a:rPr>
              <a:t>Claude nebo Groq přes LlmClient. Provider se mění konfigurací, zbytek kódu to neví.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" y="498348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A9B4C6"/>
                </a:solidFill>
                <a:latin typeface="IBM Plex Sans"/>
              </a:rPr>
              <a:t>Mimo backend: scraper používá requests, BeautifulSoup, pdfplumber, PyYAML a click.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" y="632764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9B4C6"/>
                </a:solidFill>
                <a:latin typeface="IBM Plex Sans"/>
              </a:rPr>
              <a:t>DriveWise AI · Backend · 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