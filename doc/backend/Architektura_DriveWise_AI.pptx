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8"/>
    <p:sldId id="268" r:id="rId19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
  <Relationship Id="rId19" Type="http://schemas.openxmlformats.org/officeDocument/2006/relationships/slide" Target="slides/slide13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0350" y="1149350"/>
            <a:ext cx="3289300" cy="3289300"/>
          </a:xfrm>
          <a:prstGeom prst="roundRect">
            <a:avLst>
              <a:gd name="adj" fmla="val 49228"/>
            </a:avLst>
          </a:prstGeom>
          <a:noFill/>
          <a:ln w="12700">
            <a:solidFill>
              <a:srgbClr val="E0A526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2350" y="1911350"/>
            <a:ext cx="2019300" cy="20193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0A52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79000" y="1587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22783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ARCHITEKTURA SYSTÉMU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730500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1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12800" y="3893820"/>
            <a:ext cx="71945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A9B4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Jak se z chatové zprávy stane doporučení vozu a odkud se do katalogu berou data.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800" y="601726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9B4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Stav k 22. 9. 2026 · FastAPI · NiceGUI · Claude API · samostatný scraper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Katalog v číslech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34160"/>
            <a:ext cx="91567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Uživatel popíše, co hledá. Backend z katalogu vybere a seřadí vozy a AI vysvětlí, proč sedí.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5975" y="2431415"/>
            <a:ext cx="2482850" cy="1451610"/>
          </a:xfrm>
          <a:prstGeom prst="roundRect">
            <a:avLst>
              <a:gd name="adj" fmla="val 8530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68732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71880" y="337820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značek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8375" y="2431415"/>
            <a:ext cx="2482850" cy="1451610"/>
          </a:xfrm>
          <a:prstGeom prst="roundRect">
            <a:avLst>
              <a:gd name="adj" fmla="val 8530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4280" y="268732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169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764280" y="337820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0775" y="2431415"/>
            <a:ext cx="2482850" cy="1451610"/>
          </a:xfrm>
          <a:prstGeom prst="roundRect">
            <a:avLst>
              <a:gd name="adj" fmla="val 8530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6680" y="268732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574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56680" y="337820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výbavových stupňů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93175" y="2431415"/>
            <a:ext cx="2482850" cy="1451610"/>
          </a:xfrm>
          <a:prstGeom prst="roundRect">
            <a:avLst>
              <a:gd name="adj" fmla="val 8530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9080" y="268732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1 350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9080" y="337820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konfigurací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1402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pocházejí ze 184 zdrojových dokumentů. Stav po posledním spuštění importu scraperu.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808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83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Vrstvy systému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819150" y="1480820"/>
            <a:ext cx="6743700" cy="4354830"/>
          </a:xfrm>
          <a:prstGeom prst="roundRect">
            <a:avLst>
              <a:gd name="adj" fmla="val 3354"/>
            </a:avLst>
          </a:prstGeom>
          <a:solidFill>
            <a:srgbClr val="FCFBF7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662430"/>
            <a:ext cx="65195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Jeden proces · FastAPI + NiceGUI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6160" y="1951991"/>
            <a:ext cx="6329680" cy="767080"/>
          </a:xfrm>
          <a:prstGeom prst="roundRect">
            <a:avLst>
              <a:gd name="adj" fmla="val 13245"/>
            </a:avLst>
          </a:prstGeom>
          <a:solidFill>
            <a:srgbClr val="D8EBE7"/>
          </a:solidFill>
          <a:ln/>
        </p:spPr>
      </p:sp>
      <p:sp>
        <p:nvSpPr>
          <p:cNvPr id="6" name="Text 4"/>
          <p:cNvSpPr/>
          <p:nvPr/>
        </p:nvSpPr>
        <p:spPr>
          <a:xfrm>
            <a:off x="1203960" y="2078991"/>
            <a:ext cx="61533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vrstva · NiceGUI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3960" y="2360930"/>
            <a:ext cx="61533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Chat, filtry, karty vozů, detail. Jen prezentace.</a:t>
            </a:r>
            <a:endParaRPr lang="en-US" sz="1300" dirty="0"/>
          </a:p>
        </p:txBody>
      </p:sp>
      <p:pic>
        <p:nvPicPr>
          <p:cNvPr id="8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02100" y="2795270"/>
            <a:ext cx="1778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6160" y="3100070"/>
            <a:ext cx="6329680" cy="767080"/>
          </a:xfrm>
          <a:prstGeom prst="roundRect">
            <a:avLst>
              <a:gd name="adj" fmla="val 13245"/>
            </a:avLst>
          </a:prstGeom>
          <a:solidFill>
            <a:srgbClr val="E4E7EE"/>
          </a:solidFill>
          <a:ln/>
        </p:spPr>
      </p:sp>
      <p:sp>
        <p:nvSpPr>
          <p:cNvPr id="10" name="Text 7"/>
          <p:cNvSpPr/>
          <p:nvPr/>
        </p:nvSpPr>
        <p:spPr>
          <a:xfrm>
            <a:off x="1203960" y="3227070"/>
            <a:ext cx="61533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Služby · app/services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03960" y="3509011"/>
            <a:ext cx="61533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Konverzace, doporučování, katalog. Logika i řazení.</a:t>
            </a:r>
            <a:endParaRPr lang="en-US" sz="1300" dirty="0"/>
          </a:p>
        </p:txBody>
      </p:sp>
      <p:pic>
        <p:nvPicPr>
          <p:cNvPr id="12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02100" y="3943350"/>
            <a:ext cx="1778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26160" y="4248150"/>
            <a:ext cx="3114040" cy="998220"/>
          </a:xfrm>
          <a:prstGeom prst="roundRect">
            <a:avLst>
              <a:gd name="adj" fmla="val 10178"/>
            </a:avLst>
          </a:prstGeom>
          <a:solidFill>
            <a:srgbClr val="F6E7C1"/>
          </a:solidFill>
          <a:ln/>
        </p:spPr>
      </p:sp>
      <p:sp>
        <p:nvSpPr>
          <p:cNvPr id="14" name="Text 10"/>
          <p:cNvSpPr/>
          <p:nvPr/>
        </p:nvSpPr>
        <p:spPr>
          <a:xfrm>
            <a:off x="1203960" y="4375150"/>
            <a:ext cx="284119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vrstva · app/ai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203960" y="4657091"/>
            <a:ext cx="284119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Interpretace požadavků a vysvětlení. Claude nebo Groq.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241800" y="4248150"/>
            <a:ext cx="3114040" cy="998220"/>
          </a:xfrm>
          <a:prstGeom prst="roundRect">
            <a:avLst>
              <a:gd name="adj" fmla="val 10178"/>
            </a:avLst>
          </a:prstGeom>
          <a:solidFill>
            <a:srgbClr val="E4E7EE"/>
          </a:solidFill>
          <a:ln/>
        </p:spPr>
      </p:sp>
      <p:sp>
        <p:nvSpPr>
          <p:cNvPr id="17" name="Text 13"/>
          <p:cNvSpPr/>
          <p:nvPr/>
        </p:nvSpPr>
        <p:spPr>
          <a:xfrm>
            <a:off x="4419600" y="4375150"/>
            <a:ext cx="284119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Katalog · SQLAlchemy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419600" y="4657091"/>
            <a:ext cx="284119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drivewise.db (SQLite), cílově PostgreSQL.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778750" y="1480820"/>
            <a:ext cx="3594100" cy="4354830"/>
          </a:xfrm>
          <a:prstGeom prst="roundRect">
            <a:avLst>
              <a:gd name="adj" fmla="val 4064"/>
            </a:avLst>
          </a:prstGeom>
          <a:noFill/>
          <a:ln w="12700">
            <a:solidFill>
              <a:srgbClr val="56607A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7985760" y="1662430"/>
            <a:ext cx="3275483" cy="232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 · mimo požadavek</a:t>
            </a:r>
            <a:endParaRPr lang="en-US" sz="1196" dirty="0"/>
          </a:p>
        </p:txBody>
      </p:sp>
      <p:sp>
        <p:nvSpPr>
          <p:cNvPr id="21" name="Shape 17"/>
          <p:cNvSpPr/>
          <p:nvPr/>
        </p:nvSpPr>
        <p:spPr>
          <a:xfrm>
            <a:off x="7988935" y="1948895"/>
            <a:ext cx="3173730" cy="980202"/>
          </a:xfrm>
          <a:prstGeom prst="roundRect">
            <a:avLst>
              <a:gd name="adj" fmla="val 10041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68640" y="2077800"/>
            <a:ext cx="2898750" cy="261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Scraper</a:t>
            </a:r>
            <a:endParaRPr lang="en-US" sz="1560" dirty="0"/>
          </a:p>
        </p:txBody>
      </p:sp>
      <p:sp>
        <p:nvSpPr>
          <p:cNvPr id="23" name="Text 19"/>
          <p:cNvSpPr/>
          <p:nvPr/>
        </p:nvSpPr>
        <p:spPr>
          <a:xfrm>
            <a:off x="8168640" y="2352199"/>
            <a:ext cx="2898750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6"/>
              </a:lnSpc>
              <a:buNone/>
            </a:pPr>
            <a:r>
              <a:rPr lang="en-US" sz="1276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Ceníky výrobců se mění na varianty, ceny a výbavu.</a:t>
            </a:r>
            <a:endParaRPr lang="en-US" sz="1276" dirty="0"/>
          </a:p>
        </p:txBody>
      </p:sp>
      <p:pic>
        <p:nvPicPr>
          <p:cNvPr id="24" name="Image 2" descr="arrow-dow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86900" y="3008472"/>
            <a:ext cx="177800" cy="2286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988935" y="3309779"/>
            <a:ext cx="3173730" cy="980202"/>
          </a:xfrm>
          <a:prstGeom prst="roundRect">
            <a:avLst>
              <a:gd name="adj" fmla="val 10041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168640" y="3438685"/>
            <a:ext cx="2898750" cy="261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scraper.db</a:t>
            </a:r>
            <a:endParaRPr lang="en-US" sz="1560" dirty="0"/>
          </a:p>
        </p:txBody>
      </p:sp>
      <p:sp>
        <p:nvSpPr>
          <p:cNvPr id="27" name="Text 22"/>
          <p:cNvSpPr/>
          <p:nvPr/>
        </p:nvSpPr>
        <p:spPr>
          <a:xfrm>
            <a:off x="8168640" y="3713083"/>
            <a:ext cx="2898750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6"/>
              </a:lnSpc>
              <a:buNone/>
            </a:pPr>
            <a:r>
              <a:rPr lang="en-US" sz="1276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Vlastní SQLite s dokumenty a variantami.</a:t>
            </a:r>
            <a:endParaRPr lang="en-US" sz="1276" dirty="0"/>
          </a:p>
        </p:txBody>
      </p:sp>
      <p:pic>
        <p:nvPicPr>
          <p:cNvPr id="28" name="Image 3" descr="arrow-dow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86900" y="4369357"/>
            <a:ext cx="177800" cy="2286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988935" y="4670664"/>
            <a:ext cx="3173730" cy="980202"/>
          </a:xfrm>
          <a:prstGeom prst="roundRect">
            <a:avLst>
              <a:gd name="adj" fmla="val 10041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168640" y="4799569"/>
            <a:ext cx="2898750" cy="261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skript</a:t>
            </a:r>
            <a:endParaRPr lang="en-US" sz="1560" dirty="0"/>
          </a:p>
        </p:txBody>
      </p:sp>
      <p:sp>
        <p:nvSpPr>
          <p:cNvPr id="31" name="Text 25"/>
          <p:cNvSpPr/>
          <p:nvPr/>
        </p:nvSpPr>
        <p:spPr>
          <a:xfrm>
            <a:off x="8168640" y="5073968"/>
            <a:ext cx="2898750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6"/>
              </a:lnSpc>
              <a:buNone/>
            </a:pPr>
            <a:r>
              <a:rPr lang="en-US" sz="1276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Spouští run.bat před startem. Plní katalog vlevo.</a:t>
            </a:r>
            <a:endParaRPr lang="en-US" sz="1276" dirty="0"/>
          </a:p>
        </p:txBody>
      </p:sp>
      <p:sp>
        <p:nvSpPr>
          <p:cNvPr id="32" name="Text 26"/>
          <p:cNvSpPr/>
          <p:nvPr/>
        </p:nvSpPr>
        <p:spPr>
          <a:xfrm>
            <a:off x="495808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Technologický stack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34161"/>
          <a:ext cx="10566400" cy="2871470"/>
        </p:xfrm>
        <a:graphic>
          <a:graphicData uri="http://schemas.openxmlformats.org/drawingml/2006/table">
            <a:tbl>
              <a:tblPr/>
              <a:tblGrid>
                <a:gridCol w="2324608"/>
                <a:gridCol w="8241792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Vrstva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Technologie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UI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NiceGUI na téže FastAPI aplikaci, Tailwind třídy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Backend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Python 3.11+, FastAPI, Pydantic v2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SQLAlchemy + Alembic, SQLite ve vývoji, PostgreSQL jako cíl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Claude API (výchozí) nebo Groq přes jedno rozhraní LlmClient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Scraper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requests, BeautifulSoup, pdfplumber, parser pro každou značku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Testy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pytest pro backend, UI i scraper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669791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Bez Node.js a npm: celý repozitář je v Pythonu.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95808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Cesta jednoho požadavku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D8EBE7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Uživatel popíše potřeby. UI volá službu konverzace přímo.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656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F6E7C1"/>
          </a:solidFill>
          <a:ln/>
        </p:spPr>
      </p:sp>
      <p:sp>
        <p:nvSpPr>
          <p:cNvPr id="8" name="Text 6"/>
          <p:cNvSpPr/>
          <p:nvPr/>
        </p:nvSpPr>
        <p:spPr>
          <a:xfrm>
            <a:off x="313436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3436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Interpretace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3436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převede text na strukturované požadavky nebo se doptá.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0032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E4E7EE"/>
          </a:solidFill>
          <a:ln/>
        </p:spPr>
      </p:sp>
      <p:sp>
        <p:nvSpPr>
          <p:cNvPr id="12" name="Text 10"/>
          <p:cNvSpPr/>
          <p:nvPr/>
        </p:nvSpPr>
        <p:spPr>
          <a:xfrm>
            <a:off x="527812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466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7812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Filtrování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7812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Katalog vrátí kandidáty podle tvrdých omezení, například rozpočtu.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4408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E4E7EE"/>
          </a:solidFill>
          <a:ln/>
        </p:spPr>
      </p:sp>
      <p:sp>
        <p:nvSpPr>
          <p:cNvPr id="16" name="Text 14"/>
          <p:cNvSpPr/>
          <p:nvPr/>
        </p:nvSpPr>
        <p:spPr>
          <a:xfrm>
            <a:off x="742188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466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2188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Řazení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21880" y="2255521"/>
            <a:ext cx="168656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Doporučovací engine spočítá match_score a určí top pick.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8784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F6E7C1"/>
          </a:solidFill>
          <a:ln/>
        </p:spPr>
      </p:sp>
      <p:sp>
        <p:nvSpPr>
          <p:cNvPr id="20" name="Text 18"/>
          <p:cNvSpPr/>
          <p:nvPr/>
        </p:nvSpPr>
        <p:spPr>
          <a:xfrm>
            <a:off x="956564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6564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Vysvětlení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6564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napíše české zdůvodnění opřené jen o data daného vozu.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356108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Zelená: UI · Žlutá: AI vrstva · Šedá: backend bez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3995421"/>
            <a:ext cx="10883392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zjišťuje, co uživatel chce. O pořadí rozhoduje kód.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5808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 zevnitř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3361"/>
            <a:ext cx="2524760" cy="2341880"/>
          </a:xfrm>
          <a:prstGeom prst="roundRect">
            <a:avLst>
              <a:gd name="adj" fmla="val 5423"/>
            </a:avLst>
          </a:prstGeom>
          <a:solidFill>
            <a:srgbClr val="D8EBE7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1661161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app/ui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90600" y="1965961"/>
            <a:ext cx="22342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NiceGUI, jedna stránka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0600" y="2273300"/>
            <a:ext cx="2234235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chat_column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filter_bar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results_grid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vehicle_detail_modal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wizard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state, i18n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3135" y="1486536"/>
            <a:ext cx="2528570" cy="2335530"/>
          </a:xfrm>
          <a:prstGeom prst="roundRect">
            <a:avLst>
              <a:gd name="adj" fmla="val 5302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2840" y="1666239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72840" y="1971039"/>
            <a:ext cx="22342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 /api pro externí klienty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72840" y="2278382"/>
            <a:ext cx="223423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conversations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vehicles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7280" y="1483361"/>
            <a:ext cx="2524760" cy="2341880"/>
          </a:xfrm>
          <a:prstGeom prst="roundRect">
            <a:avLst>
              <a:gd name="adj" fmla="val 5423"/>
            </a:avLst>
          </a:prstGeom>
          <a:solidFill>
            <a:srgbClr val="E4E7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661161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app/services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965961"/>
            <a:ext cx="22342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Logika a řazení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273300"/>
            <a:ext cx="223423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conversation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catalog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recommendation_engine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54440" y="1483361"/>
            <a:ext cx="2524760" cy="2341880"/>
          </a:xfrm>
          <a:prstGeom prst="roundRect">
            <a:avLst>
              <a:gd name="adj" fmla="val 5423"/>
            </a:avLst>
          </a:prstGeom>
          <a:solidFill>
            <a:srgbClr val="F6E7C1"/>
          </a:solidFill>
          <a:ln/>
        </p:spPr>
      </p:sp>
      <p:sp>
        <p:nvSpPr>
          <p:cNvPr id="16" name="Text 14"/>
          <p:cNvSpPr/>
          <p:nvPr/>
        </p:nvSpPr>
        <p:spPr>
          <a:xfrm>
            <a:off x="9032240" y="1661161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32240" y="1965961"/>
            <a:ext cx="223423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Jediné místo, kde se volá LLM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2240" y="2504439"/>
            <a:ext cx="223423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(LlmClient)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requirement_interpreter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explanation_generator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02843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volá služby přímo v procesu. REST API stojí vedle pro externí klienty.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5808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Datový model katalogu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57961"/>
            <a:ext cx="2298700" cy="1069340"/>
          </a:xfrm>
          <a:prstGeom prst="roundRect">
            <a:avLst>
              <a:gd name="adj" fmla="val 11876"/>
            </a:avLst>
          </a:prstGeom>
          <a:solidFill>
            <a:srgbClr val="D8EBE7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1610361"/>
            <a:ext cx="20537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7A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5200" y="1861821"/>
            <a:ext cx="20537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Značka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5200" y="2143761"/>
            <a:ext cx="20537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záznamů</a:t>
            </a:r>
            <a:endParaRPr lang="en-US" sz="13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100" y="1903732"/>
            <a:ext cx="254000" cy="177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68700" y="1457961"/>
            <a:ext cx="2298700" cy="1069340"/>
          </a:xfrm>
          <a:prstGeom prst="roundRect">
            <a:avLst>
              <a:gd name="adj" fmla="val 11876"/>
            </a:avLst>
          </a:prstGeom>
          <a:solidFill>
            <a:srgbClr val="D8EBE7"/>
          </a:solidFill>
          <a:ln/>
        </p:spPr>
      </p:sp>
      <p:sp>
        <p:nvSpPr>
          <p:cNvPr id="9" name="Text 6"/>
          <p:cNvSpPr/>
          <p:nvPr/>
        </p:nvSpPr>
        <p:spPr>
          <a:xfrm>
            <a:off x="3721100" y="1610361"/>
            <a:ext cx="20537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7A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21100" y="1861821"/>
            <a:ext cx="20537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21100" y="2143761"/>
            <a:ext cx="20537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169 záznamů</a:t>
            </a:r>
            <a:endParaRPr lang="en-US" sz="13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1903732"/>
            <a:ext cx="254000" cy="177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24600" y="1457961"/>
            <a:ext cx="2298700" cy="1069340"/>
          </a:xfrm>
          <a:prstGeom prst="roundRect">
            <a:avLst>
              <a:gd name="adj" fmla="val 11876"/>
            </a:avLst>
          </a:prstGeom>
          <a:solidFill>
            <a:srgbClr val="D8EBE7"/>
          </a:solidFill>
          <a:ln/>
        </p:spPr>
      </p:sp>
      <p:sp>
        <p:nvSpPr>
          <p:cNvPr id="14" name="Text 10"/>
          <p:cNvSpPr/>
          <p:nvPr/>
        </p:nvSpPr>
        <p:spPr>
          <a:xfrm>
            <a:off x="6477000" y="1610361"/>
            <a:ext cx="20537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7A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trims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77000" y="1861821"/>
            <a:ext cx="20537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Výbavový stupeň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77000" y="2143761"/>
            <a:ext cx="20537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574 záznamů</a:t>
            </a:r>
            <a:endParaRPr lang="en-US" sz="1300" dirty="0"/>
          </a:p>
        </p:txBody>
      </p:sp>
      <p:pic>
        <p:nvPicPr>
          <p:cNvPr id="17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900" y="1903732"/>
            <a:ext cx="254000" cy="1778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080500" y="1457961"/>
            <a:ext cx="2298700" cy="1069340"/>
          </a:xfrm>
          <a:prstGeom prst="roundRect">
            <a:avLst>
              <a:gd name="adj" fmla="val 11876"/>
            </a:avLst>
          </a:prstGeom>
          <a:solidFill>
            <a:srgbClr val="0B7A6E"/>
          </a:solidFill>
          <a:ln/>
        </p:spPr>
      </p:sp>
      <p:sp>
        <p:nvSpPr>
          <p:cNvPr id="19" name="Text 14"/>
          <p:cNvSpPr/>
          <p:nvPr/>
        </p:nvSpPr>
        <p:spPr>
          <a:xfrm>
            <a:off x="9232900" y="1610361"/>
            <a:ext cx="20537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configurations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232900" y="1861821"/>
            <a:ext cx="20537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Konfigurace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232900" y="2143761"/>
            <a:ext cx="20537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1 350 záznamů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12800" y="2705100"/>
            <a:ext cx="3420507" cy="1640840"/>
          </a:xfrm>
          <a:prstGeom prst="roundRect">
            <a:avLst>
              <a:gd name="adj" fmla="val 7740"/>
            </a:avLst>
          </a:prstGeom>
          <a:solidFill>
            <a:srgbClr val="E4E7EE"/>
          </a:solidFill>
          <a:ln/>
        </p:spPr>
      </p:sp>
      <p:sp>
        <p:nvSpPr>
          <p:cNvPr id="23" name="Text 18"/>
          <p:cNvSpPr/>
          <p:nvPr/>
        </p:nvSpPr>
        <p:spPr>
          <a:xfrm>
            <a:off x="990600" y="2882900"/>
            <a:ext cx="315685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Motorizace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90600" y="3202939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6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powertrains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90600" y="3492500"/>
            <a:ext cx="31568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Palivo, převodovka, pohon, výkon, spotřeba a emise. Patří k modelu.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385707" y="2705100"/>
            <a:ext cx="3420586" cy="1640840"/>
          </a:xfrm>
          <a:prstGeom prst="roundRect">
            <a:avLst>
              <a:gd name="adj" fmla="val 7740"/>
            </a:avLst>
          </a:prstGeom>
          <a:solidFill>
            <a:srgbClr val="F6E7C1"/>
          </a:solidFill>
          <a:ln/>
        </p:spPr>
      </p:sp>
      <p:sp>
        <p:nvSpPr>
          <p:cNvPr id="27" name="Text 22"/>
          <p:cNvSpPr/>
          <p:nvPr/>
        </p:nvSpPr>
        <p:spPr>
          <a:xfrm>
            <a:off x="4563507" y="2882900"/>
            <a:ext cx="31569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Barvy a výbava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4563507" y="3202939"/>
            <a:ext cx="31569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colors · option_items · option_availability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63507" y="3705861"/>
            <a:ext cx="31569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Položka je v konfiguraci standardní, nebo volitelná s příplatkem.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7958693" y="2705100"/>
            <a:ext cx="3420507" cy="1640840"/>
          </a:xfrm>
          <a:prstGeom prst="roundRect">
            <a:avLst>
              <a:gd name="adj" fmla="val 7740"/>
            </a:avLst>
          </a:prstGeom>
          <a:solidFill>
            <a:srgbClr val="E4E7EE"/>
          </a:solidFill>
          <a:ln/>
        </p:spPr>
      </p:sp>
      <p:sp>
        <p:nvSpPr>
          <p:cNvPr id="31" name="Text 26"/>
          <p:cNvSpPr/>
          <p:nvPr/>
        </p:nvSpPr>
        <p:spPr>
          <a:xfrm>
            <a:off x="8136493" y="2882900"/>
            <a:ext cx="315685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Ceny a zdroje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8136493" y="3202939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6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prices · source_documents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136493" y="3492500"/>
            <a:ext cx="31568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Historie cen a dokumenty, ze kterých pocházejí.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831850" y="4523739"/>
            <a:ext cx="0" cy="35877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00760" y="4574539"/>
            <a:ext cx="1068979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Pravidlo v databázi: příplatek existuje právě tehdy, když je položka volitelná.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495808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Scraper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86536"/>
            <a:ext cx="1652270" cy="1705610"/>
          </a:xfrm>
          <a:prstGeom prst="roundRect">
            <a:avLst>
              <a:gd name="adj" fmla="val 7494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280" y="1640839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0280" y="1905000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Objevení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0280" y="2184400"/>
            <a:ext cx="13944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Monitory najdou na webech výrobců nové ceníky.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1595" y="1486536"/>
            <a:ext cx="1652270" cy="1705610"/>
          </a:xfrm>
          <a:prstGeom prst="roundRect">
            <a:avLst>
              <a:gd name="adj" fmla="val 7494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5900" y="1640839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55900" y="1905000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Stažení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55900" y="2184400"/>
            <a:ext cx="13944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PDF, u Audi JSON, u Tesly HTML. Uloženo podle hashe.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7215" y="1486536"/>
            <a:ext cx="1652270" cy="1705610"/>
          </a:xfrm>
          <a:prstGeom prst="roundRect">
            <a:avLst>
              <a:gd name="adj" fmla="val 7494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1520" y="1640839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1520" y="1905000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Deduplikace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1520" y="2184400"/>
            <a:ext cx="13944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Stejný dokument (SHA-256) se nezpracuje dvakrát.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9660" y="1483361"/>
            <a:ext cx="1648460" cy="1711960"/>
          </a:xfrm>
          <a:prstGeom prst="roundRect">
            <a:avLst>
              <a:gd name="adj" fmla="val 7704"/>
            </a:avLst>
          </a:prstGeom>
          <a:solidFill>
            <a:srgbClr val="F6E7C1"/>
          </a:solidFill>
          <a:ln/>
        </p:spPr>
      </p:sp>
      <p:sp>
        <p:nvSpPr>
          <p:cNvPr id="16" name="Text 14"/>
          <p:cNvSpPr/>
          <p:nvPr/>
        </p:nvSpPr>
        <p:spPr>
          <a:xfrm>
            <a:off x="6322060" y="1635761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2060" y="1899921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2060" y="2179321"/>
            <a:ext cx="13944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 pro každou značku vytáhne varianty, ceny a výbavu.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48295" y="1486536"/>
            <a:ext cx="1652270" cy="1705610"/>
          </a:xfrm>
          <a:prstGeom prst="roundRect">
            <a:avLst>
              <a:gd name="adj" fmla="val 7494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2600" y="1640839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02600" y="1905000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Normalizace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02600" y="2184400"/>
            <a:ext cx="13944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Názvy výbavy se sjednotí na jednu kanonickou podobu.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30740" y="1483361"/>
            <a:ext cx="1648460" cy="1711960"/>
          </a:xfrm>
          <a:prstGeom prst="roundRect">
            <a:avLst>
              <a:gd name="adj" fmla="val 7704"/>
            </a:avLst>
          </a:prstGeom>
          <a:solidFill>
            <a:srgbClr val="E4E7EE"/>
          </a:solidFill>
          <a:ln/>
        </p:spPr>
      </p:sp>
      <p:sp>
        <p:nvSpPr>
          <p:cNvPr id="24" name="Text 22"/>
          <p:cNvSpPr/>
          <p:nvPr/>
        </p:nvSpPr>
        <p:spPr>
          <a:xfrm>
            <a:off x="9883140" y="1635761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466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83140" y="1899921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scraper.db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83140" y="2179321"/>
            <a:ext cx="13944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Každá varianta nese stránku a text zdroje.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800" y="3398521"/>
            <a:ext cx="10566400" cy="939800"/>
          </a:xfrm>
          <a:prstGeom prst="roundRect">
            <a:avLst>
              <a:gd name="adj" fmla="val 13514"/>
            </a:avLst>
          </a:prstGeom>
          <a:solidFill>
            <a:srgbClr val="0F1B2D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3601721"/>
            <a:ext cx="103601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skript přenese scraper.db do drivewise.db. Je bezpečné ho spouštět opakovaně a run.bat ho volá před startem serveru.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5808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Pokrytí zdrojů a výbavy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3364"/>
            <a:ext cx="5181600" cy="2334260"/>
          </a:xfrm>
          <a:prstGeom prst="roundRect">
            <a:avLst>
              <a:gd name="adj" fmla="val 6529"/>
            </a:avLst>
          </a:prstGeom>
          <a:solidFill>
            <a:srgbClr val="D8EBE7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37364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Výbava a barvy z ceníku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138679"/>
            <a:ext cx="481380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značek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496821"/>
            <a:ext cx="481380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Škoda, Volkswagen, Kia, Hyundai, Mazda, Peugeot, Renault, Dacia, Opel, MG a CUPRA.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1483364"/>
            <a:ext cx="5181600" cy="2334260"/>
          </a:xfrm>
          <a:prstGeom prst="roundRect">
            <a:avLst>
              <a:gd name="adj" fmla="val 6529"/>
            </a:avLst>
          </a:prstGeom>
          <a:solidFill>
            <a:srgbClr val="E4E7EE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1737364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Zatím bez výbavy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1600" y="2138679"/>
            <a:ext cx="481380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466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značek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51600" y="2496821"/>
            <a:ext cx="481380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BMW, Mercedes-Benz: PDF výbavu neobsahuje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Audi: JSON zdroj nemá katalog výbavy ani barev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Ford: extrakce zatím není spolehlivá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Tesla, Toyota: extrakce zatím chybí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402082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Formáty zdrojů: PDF ceníky (15 značek), JSON API konfigurátoru (Audi), HTML konfigurátor (Tesla).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5808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Principy návrhu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37339"/>
            <a:ext cx="5175250" cy="1421130"/>
          </a:xfrm>
          <a:prstGeom prst="roundRect">
            <a:avLst>
              <a:gd name="adj" fmla="val 10500"/>
            </a:avLst>
          </a:prstGeom>
          <a:solidFill>
            <a:srgbClr val="16273F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793242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Tenké UI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169164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jen prezentuje. Logika, řazení i práce s AI zůstávají v backendu.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537339"/>
            <a:ext cx="5175250" cy="1421130"/>
          </a:xfrm>
          <a:prstGeom prst="roundRect">
            <a:avLst>
              <a:gd name="adj" fmla="val 10500"/>
            </a:avLst>
          </a:prstGeom>
          <a:solidFill>
            <a:srgbClr val="16273F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793242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pomáhá, nerozhoduje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6680" y="2169164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rozumí textu a vysvětluje. Pořadí vozů počítá deterministický engine.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168017"/>
            <a:ext cx="5175250" cy="1421130"/>
          </a:xfrm>
          <a:prstGeom prst="roundRect">
            <a:avLst>
              <a:gd name="adj" fmla="val 10500"/>
            </a:avLst>
          </a:prstGeom>
          <a:solidFill>
            <a:srgbClr val="16273F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880" y="3423921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Scraper mimo požadavek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1880" y="3799842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Katalog se plní předem, uživatel nikdy nečeká na stahování dat.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168017"/>
            <a:ext cx="5175250" cy="1421130"/>
          </a:xfrm>
          <a:prstGeom prst="roundRect">
            <a:avLst>
              <a:gd name="adj" fmla="val 10500"/>
            </a:avLst>
          </a:prstGeom>
          <a:solidFill>
            <a:srgbClr val="16273F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6680" y="3423921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Žádná vymyšlená data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6680" y="3799842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Každá hodnota má zdroj: stránku a text v PDF. Co zdroj neříká, zůstane prázdné.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5808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Otevřené body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83364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 v architektuře dnes chybí nebo je jen provizorní.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1850" y="1971042"/>
            <a:ext cx="0" cy="29146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6160" y="1971042"/>
            <a:ext cx="10663631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Katalog běží na SQLite, cílovou databází je PostgreSQL.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31850" y="2414904"/>
            <a:ext cx="0" cy="29146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160" y="2414904"/>
            <a:ext cx="10663631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Přenos ze scraper.db do drivewise.db je dávkový krok, ne živý proud.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1850" y="2858771"/>
            <a:ext cx="0" cy="29146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6160" y="2858771"/>
            <a:ext cx="10663631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Šest značek zatím nemá výbavu, viz Pokrytí zdrojů.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31850" y="3302639"/>
            <a:ext cx="0" cy="29146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6160" y="3302639"/>
            <a:ext cx="10663631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Barvy ze scraperu se ukládají jako volitelná výbava, ne do tabulky colors.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1850" y="3746500"/>
            <a:ext cx="0" cy="29146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6160" y="3746500"/>
            <a:ext cx="10663631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a GitHub Actions jsou zatím jen záměr.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5808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Nové: přihlášení a e-mail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3361"/>
            <a:ext cx="2524760" cy="2341880"/>
          </a:xfrm>
          <a:prstGeom prst="roundRect">
            <a:avLst>
              <a:gd name="adj" fmla="val 5423"/>
            </a:avLst>
          </a:prstGeom>
          <a:solidFill>
            <a:srgbClr val="D8EBE7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1661161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Přihlášení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90600" y="1965961"/>
            <a:ext cx="22342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E-mail a jednorázový kód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0600" y="2273300"/>
            <a:ext cx="2234235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login_codes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kód = 6 číslic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jen HMAC hash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min, 5 pokusů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 / hod, IP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3135" y="1486536"/>
            <a:ext cx="2528570" cy="2335530"/>
          </a:xfrm>
          <a:prstGeom prst="roundRect">
            <a:avLst>
              <a:gd name="adj" fmla="val 5302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2840" y="1666239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E-mail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72840" y="1971039"/>
            <a:ext cx="22342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Vývoj: console. Provoz: smtp.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72840" y="2278382"/>
            <a:ext cx="223423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Resend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Seznam, Gmail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Brevo, Mailgun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send_test_email.py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7280" y="1483361"/>
            <a:ext cx="2524760" cy="2341880"/>
          </a:xfrm>
          <a:prstGeom prst="roundRect">
            <a:avLst>
              <a:gd name="adj" fmla="val 5423"/>
            </a:avLst>
          </a:prstGeom>
          <a:solidFill>
            <a:srgbClr val="E4E7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661161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Administrace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965961"/>
            <a:ext cx="22342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Grant-only, nikdy neodebírá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273300"/>
            <a:ext cx="223423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ADMIN_EMAILS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/admin konzole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is_admin v 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54440" y="1483361"/>
            <a:ext cx="2524760" cy="2341880"/>
          </a:xfrm>
          <a:prstGeom prst="roundRect">
            <a:avLst>
              <a:gd name="adj" fmla="val 5423"/>
            </a:avLst>
          </a:prstGeom>
          <a:solidFill>
            <a:srgbClr val="F6E7C1"/>
          </a:solidFill>
          <a:ln/>
        </p:spPr>
      </p:sp>
      <p:sp>
        <p:nvSpPr>
          <p:cNvPr id="16" name="Text 14"/>
          <p:cNvSpPr/>
          <p:nvPr/>
        </p:nvSpPr>
        <p:spPr>
          <a:xfrm>
            <a:off x="9032240" y="1661161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Zabezpečení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32240" y="1965961"/>
            <a:ext cx="223423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 databázi jen hash kódu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2240" y="2504439"/>
            <a:ext cx="223423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HMAC hash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jednorázový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rate limit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30 dní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02843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Přihlášení gatuje jen UI – REST /api/* zůstává bez autentizace.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5808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Pamatování požadavků mezi relacemi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D8EBE7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Přihlášení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E-mail a jednorázový kód nahradí heslo i registraci.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656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F6E7C1"/>
          </a:solidFill>
          <a:ln/>
        </p:spPr>
      </p:sp>
      <p:sp>
        <p:nvSpPr>
          <p:cNvPr id="8" name="Text 6"/>
          <p:cNvSpPr/>
          <p:nvPr/>
        </p:nvSpPr>
        <p:spPr>
          <a:xfrm>
            <a:off x="313436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3436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Vyplnění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3436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Průvodce nebo chat zjistí, jaké auto uživatel hledá.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0032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E4E7EE"/>
          </a:solidFill>
          <a:ln/>
        </p:spPr>
      </p:sp>
      <p:sp>
        <p:nvSpPr>
          <p:cNvPr id="12" name="Text 10"/>
          <p:cNvSpPr/>
          <p:nvPr/>
        </p:nvSpPr>
        <p:spPr>
          <a:xfrm>
            <a:off x="527812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466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7812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Uložení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7812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 každém kroku se snapshot uloží pod jeho účet.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4408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E4E7EE"/>
          </a:solidFill>
          <a:ln/>
        </p:spPr>
      </p:sp>
      <p:sp>
        <p:nvSpPr>
          <p:cNvPr id="16" name="Text 14"/>
          <p:cNvSpPr/>
          <p:nvPr/>
        </p:nvSpPr>
        <p:spPr>
          <a:xfrm>
            <a:off x="742188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466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2188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Reload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21880" y="2255521"/>
            <a:ext cx="168656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Relace v paměti zmizí, uložený snapshot v databázi zůstává.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8784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F6E7C1"/>
          </a:solidFill>
          <a:ln/>
        </p:spPr>
      </p:sp>
      <p:sp>
        <p:nvSpPr>
          <p:cNvPr id="20" name="Text 18"/>
          <p:cNvSpPr/>
          <p:nvPr/>
        </p:nvSpPr>
        <p:spPr>
          <a:xfrm>
            <a:off x="956564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6564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Obnovení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6564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Další přihlášení požadavky i výsledky vrátí zpět.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356108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Zelená: UI · Žlutá: AI vrstva · Šedá: backend bez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3995421"/>
            <a:ext cx="10883392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Bez přihlášení požadavky zmizí s kartou. S přihlášením přežijí odhlášení i reload.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5808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Architektura DriveWise AI</dc:title>
  <dc:subject>PptxGenJS Presentation</dc:subject>
  <dc:creator>PptxGenJS</dc:creator>
  <cp:lastModifiedBy>PptxGenJS</cp:lastModifiedBy>
  <cp:revision>1</cp:revision>
  <dcterms:created xsi:type="dcterms:W3CDTF">2026-09-20T19:41:10Z</dcterms:created>
  <dcterms:modified xsi:type="dcterms:W3CDTF">2026-09-20T19:41:10Z</dcterms:modified>
</cp:coreProperties>
</file>