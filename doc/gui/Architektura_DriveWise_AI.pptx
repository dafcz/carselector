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0350" y="1149350"/>
            <a:ext cx="3289300" cy="3289300"/>
          </a:xfrm>
          <a:prstGeom prst="roundRect">
            <a:avLst>
              <a:gd name="adj" fmla="val 49228"/>
            </a:avLst>
          </a:prstGeom>
          <a:noFill/>
          <a:ln w="12700">
            <a:solidFill>
              <a:srgbClr val="E0A52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2350" y="1911350"/>
            <a:ext cx="2019300" cy="2019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0A52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79000" y="1587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2783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ARCHITEKTURA SYSTÉMU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730500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12800" y="3893820"/>
            <a:ext cx="71945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Jak se z chatové zprávy stane doporučení vozu a odkud se do katalogu berou data.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60172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Stav k 20. 9. 2026 · FastAPI · NiceGUI · Claude API · samostatný scraper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v číslech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60"/>
            <a:ext cx="91567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Uživatel popíše, co hledá. Backend z katalogu vybere a seřadí vozy a AI vysvětlí, proč sedí.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8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značek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642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66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566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výbavových stupňů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3175" y="2431415"/>
            <a:ext cx="2482850" cy="1451610"/>
          </a:xfrm>
          <a:prstGeom prst="roundRect">
            <a:avLst>
              <a:gd name="adj" fmla="val 8530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9080" y="268732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1 350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9080" y="3378200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1402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pocházejí ze 184 zdrojových dokumentů. Stav po posledním spuštění importu scraperu.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Vrstvy systému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819150" y="1480820"/>
            <a:ext cx="6743700" cy="4354830"/>
          </a:xfrm>
          <a:prstGeom prst="roundRect">
            <a:avLst>
              <a:gd name="adj" fmla="val 3354"/>
            </a:avLst>
          </a:prstGeom>
          <a:solidFill>
            <a:srgbClr val="FCFBF7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662430"/>
            <a:ext cx="65195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Jeden proces · FastAPI + NiceGUI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6160" y="1951991"/>
            <a:ext cx="6329680" cy="767080"/>
          </a:xfrm>
          <a:prstGeom prst="roundRect">
            <a:avLst>
              <a:gd name="adj" fmla="val 13245"/>
            </a:avLst>
          </a:prstGeom>
          <a:solidFill>
            <a:srgbClr val="D8EBE7"/>
          </a:solidFill>
          <a:ln/>
        </p:spPr>
      </p:sp>
      <p:sp>
        <p:nvSpPr>
          <p:cNvPr id="6" name="Text 4"/>
          <p:cNvSpPr/>
          <p:nvPr/>
        </p:nvSpPr>
        <p:spPr>
          <a:xfrm>
            <a:off x="1203960" y="2078991"/>
            <a:ext cx="61533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vrstva · NiceGUI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3960" y="2360930"/>
            <a:ext cx="61533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Chat, filtry, karty vozů, detail. Jen prezentace.</a:t>
            </a:r>
            <a:endParaRPr lang="en-US" sz="1300" dirty="0"/>
          </a:p>
        </p:txBody>
      </p:sp>
      <p:pic>
        <p:nvPicPr>
          <p:cNvPr id="8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02100" y="2795270"/>
            <a:ext cx="1778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6160" y="3100070"/>
            <a:ext cx="6329680" cy="767080"/>
          </a:xfrm>
          <a:prstGeom prst="roundRect">
            <a:avLst>
              <a:gd name="adj" fmla="val 13245"/>
            </a:avLst>
          </a:prstGeom>
          <a:solidFill>
            <a:srgbClr val="E4E7EE"/>
          </a:solidFill>
          <a:ln/>
        </p:spPr>
      </p:sp>
      <p:sp>
        <p:nvSpPr>
          <p:cNvPr id="10" name="Text 7"/>
          <p:cNvSpPr/>
          <p:nvPr/>
        </p:nvSpPr>
        <p:spPr>
          <a:xfrm>
            <a:off x="1203960" y="3227070"/>
            <a:ext cx="61533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Služby · app/services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03960" y="3509011"/>
            <a:ext cx="61533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Konverzace, doporučování, katalog. Logika i řazení.</a:t>
            </a:r>
            <a:endParaRPr lang="en-US" sz="1300" dirty="0"/>
          </a:p>
        </p:txBody>
      </p:sp>
      <p:pic>
        <p:nvPicPr>
          <p:cNvPr id="12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02100" y="3943350"/>
            <a:ext cx="1778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26160" y="4248150"/>
            <a:ext cx="3114040" cy="998220"/>
          </a:xfrm>
          <a:prstGeom prst="roundRect">
            <a:avLst>
              <a:gd name="adj" fmla="val 10178"/>
            </a:avLst>
          </a:prstGeom>
          <a:solidFill>
            <a:srgbClr val="F6E7C1"/>
          </a:solidFill>
          <a:ln/>
        </p:spPr>
      </p:sp>
      <p:sp>
        <p:nvSpPr>
          <p:cNvPr id="14" name="Text 10"/>
          <p:cNvSpPr/>
          <p:nvPr/>
        </p:nvSpPr>
        <p:spPr>
          <a:xfrm>
            <a:off x="1203960" y="4375150"/>
            <a:ext cx="28411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vrstva · app/ai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03960" y="4657091"/>
            <a:ext cx="28411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Interpretace požadavků a vysvětlení. Claude nebo Groq.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41800" y="4248150"/>
            <a:ext cx="3114040" cy="998220"/>
          </a:xfrm>
          <a:prstGeom prst="roundRect">
            <a:avLst>
              <a:gd name="adj" fmla="val 10178"/>
            </a:avLst>
          </a:prstGeom>
          <a:solidFill>
            <a:srgbClr val="E4E7EE"/>
          </a:solidFill>
          <a:ln/>
        </p:spPr>
      </p:sp>
      <p:sp>
        <p:nvSpPr>
          <p:cNvPr id="17" name="Text 13"/>
          <p:cNvSpPr/>
          <p:nvPr/>
        </p:nvSpPr>
        <p:spPr>
          <a:xfrm>
            <a:off x="4419600" y="4375150"/>
            <a:ext cx="28411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· SQLAlchemy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419600" y="4657091"/>
            <a:ext cx="28411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drivewise.db (SQLite), cílově PostgreSQL.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78750" y="1480820"/>
            <a:ext cx="3594100" cy="4354830"/>
          </a:xfrm>
          <a:prstGeom prst="roundRect">
            <a:avLst>
              <a:gd name="adj" fmla="val 4064"/>
            </a:avLst>
          </a:prstGeom>
          <a:noFill/>
          <a:ln w="12700">
            <a:solidFill>
              <a:srgbClr val="56607A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7985760" y="1662430"/>
            <a:ext cx="3275483" cy="23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· mimo požadavek</a:t>
            </a:r>
            <a:endParaRPr lang="en-US" sz="1196" dirty="0"/>
          </a:p>
        </p:txBody>
      </p:sp>
      <p:sp>
        <p:nvSpPr>
          <p:cNvPr id="21" name="Shape 17"/>
          <p:cNvSpPr/>
          <p:nvPr/>
        </p:nvSpPr>
        <p:spPr>
          <a:xfrm>
            <a:off x="7988935" y="1948895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68640" y="2077800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</a:t>
            </a:r>
            <a:endParaRPr lang="en-US" sz="1560" dirty="0"/>
          </a:p>
        </p:txBody>
      </p:sp>
      <p:sp>
        <p:nvSpPr>
          <p:cNvPr id="23" name="Text 19"/>
          <p:cNvSpPr/>
          <p:nvPr/>
        </p:nvSpPr>
        <p:spPr>
          <a:xfrm>
            <a:off x="8168640" y="2352199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Ceníky výrobců se mění na varianty, ceny a výbavu.</a:t>
            </a:r>
            <a:endParaRPr lang="en-US" sz="1276" dirty="0"/>
          </a:p>
        </p:txBody>
      </p:sp>
      <p:pic>
        <p:nvPicPr>
          <p:cNvPr id="24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86900" y="3008472"/>
            <a:ext cx="1778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988935" y="3309779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68640" y="3438685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scraper.db</a:t>
            </a:r>
            <a:endParaRPr lang="en-US" sz="1560" dirty="0"/>
          </a:p>
        </p:txBody>
      </p:sp>
      <p:sp>
        <p:nvSpPr>
          <p:cNvPr id="27" name="Text 22"/>
          <p:cNvSpPr/>
          <p:nvPr/>
        </p:nvSpPr>
        <p:spPr>
          <a:xfrm>
            <a:off x="8168640" y="3713083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Vlastní SQLite s dokumenty a variantami.</a:t>
            </a:r>
            <a:endParaRPr lang="en-US" sz="1276" dirty="0"/>
          </a:p>
        </p:txBody>
      </p:sp>
      <p:pic>
        <p:nvPicPr>
          <p:cNvPr id="28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6900" y="4369357"/>
            <a:ext cx="177800" cy="2286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988935" y="4670664"/>
            <a:ext cx="3173730" cy="980202"/>
          </a:xfrm>
          <a:prstGeom prst="roundRect">
            <a:avLst>
              <a:gd name="adj" fmla="val 10041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68640" y="4799569"/>
            <a:ext cx="2898750" cy="261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skript</a:t>
            </a:r>
            <a:endParaRPr lang="en-US" sz="1560" dirty="0"/>
          </a:p>
        </p:txBody>
      </p:sp>
      <p:sp>
        <p:nvSpPr>
          <p:cNvPr id="31" name="Text 25"/>
          <p:cNvSpPr/>
          <p:nvPr/>
        </p:nvSpPr>
        <p:spPr>
          <a:xfrm>
            <a:off x="8168640" y="5073968"/>
            <a:ext cx="2898750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Spouští run.bat před startem. Plní katalog vlevo.</a:t>
            </a:r>
            <a:endParaRPr lang="en-US" sz="1276" dirty="0"/>
          </a:p>
        </p:txBody>
      </p:sp>
      <p:sp>
        <p:nvSpPr>
          <p:cNvPr id="32" name="Text 26"/>
          <p:cNvSpPr/>
          <p:nvPr/>
        </p:nvSpPr>
        <p:spPr>
          <a:xfrm>
            <a:off x="495808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Technologický stack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4161"/>
          <a:ext cx="10566400" cy="2871470"/>
        </p:xfrm>
        <a:graphic>
          <a:graphicData uri="http://schemas.openxmlformats.org/drawingml/2006/table">
            <a:tbl>
              <a:tblPr/>
              <a:tblGrid>
                <a:gridCol w="2324608"/>
                <a:gridCol w="8241792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Vrstva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Technologie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NiceGUI na téže FastAPI aplikaci, Tailwind třídy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 3.11+, FastAPI, Pydantic v2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SQLAlchemy + Alembic, SQLite ve vývoji, PostgreSQL jako cíl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 API (výchozí) nebo Groq přes jedno rozhraní LlmClient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Scraper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requests, BeautifulSoup, pdfplumber, parser pro každou značku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7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pytest pro backend, UI i scraper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669791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Bez Node.js a npm: celý repozitář je v Pythonu.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Cesta jednoho požadavku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Uživatel popíše potřeby. UI volá službu konverzace přímo.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656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8" name="Text 6"/>
          <p:cNvSpPr/>
          <p:nvPr/>
        </p:nvSpPr>
        <p:spPr>
          <a:xfrm>
            <a:off x="313436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436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3436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převede text na strukturované požadavky nebo se doptá.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032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527812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812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Filtrování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812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vrátí kandidáty podle tvrdých omezení, například rozpočtu.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408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E4E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42188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2188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Řazení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1880" y="2255521"/>
            <a:ext cx="16865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Doporučovací engine spočítá match_score a určí top pick.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87840" y="1483361"/>
            <a:ext cx="1991360" cy="1874520"/>
          </a:xfrm>
          <a:prstGeom prst="roundRect">
            <a:avLst>
              <a:gd name="adj" fmla="val 6775"/>
            </a:avLst>
          </a:prstGeom>
          <a:solidFill>
            <a:srgbClr val="F6E7C1"/>
          </a:solidFill>
          <a:ln/>
        </p:spPr>
      </p:sp>
      <p:sp>
        <p:nvSpPr>
          <p:cNvPr id="20" name="Text 18"/>
          <p:cNvSpPr/>
          <p:nvPr/>
        </p:nvSpPr>
        <p:spPr>
          <a:xfrm>
            <a:off x="9565640" y="16611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65640" y="1950721"/>
            <a:ext cx="168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Vysvětlení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65640" y="2255521"/>
            <a:ext cx="16865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napíše české zdůvodnění opřené jen o data daného vozu.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56108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Zelená: UI · Žlutá: AI vrstva · Šedá: backend bez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995421"/>
            <a:ext cx="10883392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zjišťuje, co uživatel chce. O pořadí rozhoduje kód.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 zevnitř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app/ui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060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NiceGUI, jedna stránka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0600" y="2273300"/>
            <a:ext cx="2234235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chat_column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filter_bar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results_grid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vehicle_detail_modal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wizard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state, i18n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135" y="1486536"/>
            <a:ext cx="2528570" cy="2335530"/>
          </a:xfrm>
          <a:prstGeom prst="roundRect">
            <a:avLst>
              <a:gd name="adj" fmla="val 5302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2840" y="1666239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2840" y="1971039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/api pro externí klienty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2840" y="2278382"/>
            <a:ext cx="223423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vehicles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728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E4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1"/>
            <a:ext cx="22342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Logika a řazení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273300"/>
            <a:ext cx="223423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recommendation_engine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4440" y="1483361"/>
            <a:ext cx="2524760" cy="2341880"/>
          </a:xfrm>
          <a:prstGeom prst="roundRect">
            <a:avLst>
              <a:gd name="adj" fmla="val 5423"/>
            </a:avLst>
          </a:prstGeom>
          <a:solidFill>
            <a:srgbClr val="F6E7C1"/>
          </a:solidFill>
          <a:ln/>
        </p:spPr>
      </p:sp>
      <p:sp>
        <p:nvSpPr>
          <p:cNvPr id="16" name="Text 14"/>
          <p:cNvSpPr/>
          <p:nvPr/>
        </p:nvSpPr>
        <p:spPr>
          <a:xfrm>
            <a:off x="9032240" y="1661161"/>
            <a:ext cx="2234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32240" y="1965961"/>
            <a:ext cx="22342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Jediné místo, kde se volá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2240" y="2504439"/>
            <a:ext cx="223423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(LlmClient)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requirement_interpreter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explanation_generator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0284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volá služby přímo v procesu. REST API stojí vedle pro externí klienty.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Datový model katalogu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2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Značka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záznamů</a:t>
            </a:r>
            <a:endParaRPr lang="en-US" sz="13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1903732"/>
            <a:ext cx="2540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87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9" name="Text 6"/>
          <p:cNvSpPr/>
          <p:nvPr/>
        </p:nvSpPr>
        <p:spPr>
          <a:xfrm>
            <a:off x="37211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211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211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169 záznamů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1903732"/>
            <a:ext cx="2540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46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D8EBE7"/>
          </a:solidFill>
          <a:ln/>
        </p:spPr>
      </p:sp>
      <p:sp>
        <p:nvSpPr>
          <p:cNvPr id="14" name="Text 10"/>
          <p:cNvSpPr/>
          <p:nvPr/>
        </p:nvSpPr>
        <p:spPr>
          <a:xfrm>
            <a:off x="64770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trims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770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Výbavový stupeň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770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574 záznamů</a:t>
            </a:r>
            <a:endParaRPr lang="en-US" sz="13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1903732"/>
            <a:ext cx="254000" cy="1778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080500" y="1457961"/>
            <a:ext cx="2298700" cy="1069340"/>
          </a:xfrm>
          <a:prstGeom prst="roundRect">
            <a:avLst>
              <a:gd name="adj" fmla="val 11876"/>
            </a:avLst>
          </a:prstGeom>
          <a:solidFill>
            <a:srgbClr val="0B7A6E"/>
          </a:solidFill>
          <a:ln/>
        </p:spPr>
      </p:sp>
      <p:sp>
        <p:nvSpPr>
          <p:cNvPr id="19" name="Text 14"/>
          <p:cNvSpPr/>
          <p:nvPr/>
        </p:nvSpPr>
        <p:spPr>
          <a:xfrm>
            <a:off x="9232900" y="1610361"/>
            <a:ext cx="20537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configurations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232900" y="1861821"/>
            <a:ext cx="20537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Konfigurace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232900" y="2143761"/>
            <a:ext cx="2053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1 350 záznamů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12800" y="2705100"/>
            <a:ext cx="3420507" cy="1640840"/>
          </a:xfrm>
          <a:prstGeom prst="roundRect">
            <a:avLst>
              <a:gd name="adj" fmla="val 7740"/>
            </a:avLst>
          </a:prstGeom>
          <a:solidFill>
            <a:srgbClr val="E4E7EE"/>
          </a:solidFill>
          <a:ln/>
        </p:spPr>
      </p:sp>
      <p:sp>
        <p:nvSpPr>
          <p:cNvPr id="23" name="Text 18"/>
          <p:cNvSpPr/>
          <p:nvPr/>
        </p:nvSpPr>
        <p:spPr>
          <a:xfrm>
            <a:off x="990600" y="2882900"/>
            <a:ext cx="31568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Motorizace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" y="3202939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6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powertrains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90600" y="3492500"/>
            <a:ext cx="31568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Palivo, převodovka, pohon, výkon, spotřeba a emise. Patří k modelu.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385707" y="2705100"/>
            <a:ext cx="3420586" cy="1640840"/>
          </a:xfrm>
          <a:prstGeom prst="roundRect">
            <a:avLst>
              <a:gd name="adj" fmla="val 7740"/>
            </a:avLst>
          </a:prstGeom>
          <a:solidFill>
            <a:srgbClr val="F6E7C1"/>
          </a:solidFill>
          <a:ln/>
        </p:spPr>
      </p:sp>
      <p:sp>
        <p:nvSpPr>
          <p:cNvPr id="27" name="Text 22"/>
          <p:cNvSpPr/>
          <p:nvPr/>
        </p:nvSpPr>
        <p:spPr>
          <a:xfrm>
            <a:off x="4563507" y="2882900"/>
            <a:ext cx="31569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Barvy a výbava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63507" y="3202939"/>
            <a:ext cx="3156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colors · option_items · option_availability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63507" y="3705861"/>
            <a:ext cx="31569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Položka je v konfiguraci standardní, nebo volitelná s příplatkem.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958693" y="2705100"/>
            <a:ext cx="3420507" cy="1640840"/>
          </a:xfrm>
          <a:prstGeom prst="roundRect">
            <a:avLst>
              <a:gd name="adj" fmla="val 7740"/>
            </a:avLst>
          </a:prstGeom>
          <a:solidFill>
            <a:srgbClr val="E4E7EE"/>
          </a:solidFill>
          <a:ln/>
        </p:spPr>
      </p:sp>
      <p:sp>
        <p:nvSpPr>
          <p:cNvPr id="31" name="Text 26"/>
          <p:cNvSpPr/>
          <p:nvPr/>
        </p:nvSpPr>
        <p:spPr>
          <a:xfrm>
            <a:off x="8136493" y="2882900"/>
            <a:ext cx="31568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Ceny a zdroje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136493" y="3202939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6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prices · source_documents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136493" y="3492500"/>
            <a:ext cx="31568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Historie cen a dokumenty, ze kterých pocházejí.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31850" y="4523739"/>
            <a:ext cx="0" cy="35877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00760" y="4574539"/>
            <a:ext cx="1068979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Pravidlo v databázi: příplatek existuje právě tehdy, když je položka volitelná.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495808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028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Objevení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0280" y="2184400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Monitory najdou na webech výrobců nové ceníky.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159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590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5590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Stažení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55900" y="2184400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PDF, u Audi JSON, u Tesly HTML. Uloženo podle hashe.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721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52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152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Deduplikace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1520" y="2184400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Stejný dokument (SHA-256) se nezpracuje dvakrát.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9660" y="1483361"/>
            <a:ext cx="1648460" cy="1711960"/>
          </a:xfrm>
          <a:prstGeom prst="roundRect">
            <a:avLst>
              <a:gd name="adj" fmla="val 7704"/>
            </a:avLst>
          </a:prstGeom>
          <a:solidFill>
            <a:srgbClr val="F6E7C1"/>
          </a:solidFill>
          <a:ln/>
        </p:spPr>
      </p:sp>
      <p:sp>
        <p:nvSpPr>
          <p:cNvPr id="16" name="Text 14"/>
          <p:cNvSpPr/>
          <p:nvPr/>
        </p:nvSpPr>
        <p:spPr>
          <a:xfrm>
            <a:off x="6322060" y="1635761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2060" y="1899921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2060" y="2179321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pro každou značku vytáhne varianty, ceny a výbavu.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48295" y="1486536"/>
            <a:ext cx="1652270" cy="1705610"/>
          </a:xfrm>
          <a:prstGeom prst="roundRect">
            <a:avLst>
              <a:gd name="adj" fmla="val 7494"/>
            </a:avLst>
          </a:prstGeom>
          <a:solidFill>
            <a:srgbClr val="FCFBF7"/>
          </a:solidFill>
          <a:ln w="6350">
            <a:solidFill>
              <a:srgbClr val="DA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2600" y="1640839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02600" y="1905000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02600" y="2184400"/>
            <a:ext cx="13944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Názvy výbavy se sjednotí na jednu kanonickou podobu.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0740" y="1483361"/>
            <a:ext cx="1648460" cy="1711960"/>
          </a:xfrm>
          <a:prstGeom prst="roundRect">
            <a:avLst>
              <a:gd name="adj" fmla="val 7704"/>
            </a:avLst>
          </a:prstGeom>
          <a:solidFill>
            <a:srgbClr val="E4E7EE"/>
          </a:solidFill>
          <a:ln/>
        </p:spPr>
      </p:sp>
      <p:sp>
        <p:nvSpPr>
          <p:cNvPr id="24" name="Text 22"/>
          <p:cNvSpPr/>
          <p:nvPr/>
        </p:nvSpPr>
        <p:spPr>
          <a:xfrm>
            <a:off x="9883140" y="1635761"/>
            <a:ext cx="1394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83140" y="1899921"/>
            <a:ext cx="13944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scraper.db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83140" y="2179321"/>
            <a:ext cx="13944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Každá varianta nese stránku a text zdroje.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3398521"/>
            <a:ext cx="10566400" cy="939800"/>
          </a:xfrm>
          <a:prstGeom prst="roundRect">
            <a:avLst>
              <a:gd name="adj" fmla="val 13514"/>
            </a:avLst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3601721"/>
            <a:ext cx="103601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skript přenese scraper.db do drivewise.db. Je bezpečné ho spouštět opakovaně a run.bat ho volá před startem serveru.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Pokrytí zdrojů a výbavy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64"/>
            <a:ext cx="5181600" cy="2334260"/>
          </a:xfrm>
          <a:prstGeom prst="roundRect">
            <a:avLst>
              <a:gd name="adj" fmla="val 6529"/>
            </a:avLst>
          </a:prstGeom>
          <a:solidFill>
            <a:srgbClr val="D8EBE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64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Výbava a barvy z ceníku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138679"/>
            <a:ext cx="48138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značek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496821"/>
            <a:ext cx="481380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Škoda, Volkswagen, Kia, Hyundai, Mazda, Peugeot, Renault, Dacia, Opel, MG a CUPRA.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483364"/>
            <a:ext cx="5181600" cy="2334260"/>
          </a:xfrm>
          <a:prstGeom prst="roundRect">
            <a:avLst>
              <a:gd name="adj" fmla="val 6529"/>
            </a:avLst>
          </a:prstGeom>
          <a:solidFill>
            <a:srgbClr val="E4E7EE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737364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Zatím bez výbavy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2138679"/>
            <a:ext cx="48138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66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značek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1600" y="2496821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BMW, Mercedes-Benz: PDF výbavu neobsahuje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Audi: JSON zdroj nemá katalog výbavy ani barev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Ford: extrakce zatím není spolehlivá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Tesla, Toyota: extrakce zatím chybí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0208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Formáty zdrojů: PDF ceníky (15 značek), JSON API konfigurátoru (Audi), HTML konfigurátor (Tesla).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Principy návrhu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339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93242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Tenké UI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169164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jen prezentuje. Logika, řazení i práce s AI zůstávají v backendu.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37339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793242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pomáhá, nerozhoduje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6680" y="2169164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rozumí textu a vysvětluje. Pořadí vozů počítá deterministický engine.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68017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4239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Scraper mimo požadavek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880" y="379984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se plní předem, uživatel nikdy nečeká na stahování dat.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68017"/>
            <a:ext cx="5175250" cy="1421130"/>
          </a:xfrm>
          <a:prstGeom prst="roundRect">
            <a:avLst>
              <a:gd name="adj" fmla="val 10500"/>
            </a:avLst>
          </a:prstGeom>
          <a:solidFill>
            <a:srgbClr val="16273F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34239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Žádná vymyšlená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3799842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Každá hodnota má zdroj: stránku a text v PDF. Co zdroj neříká, zůstane prázdné.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Otevřené body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3364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 v architektuře dnes chybí nebo je jen provizorní.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1850" y="1971042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1971042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Katalog běží na SQLite, cílovou databází je PostgreSQL.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31850" y="2414904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160" y="2414904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Přenos ze scraper.db do drivewise.db je dávkový krok, ne živý proud.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1850" y="2858771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160" y="2858771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Šest značek zatím nemá výbavu, viz Pokrytí zdrojů.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1850" y="3302639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160" y="3302639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Barvy ze scraperu se ukládají jako volitelná výbava, ne do tabulky colors.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1850" y="3746500"/>
            <a:ext cx="0" cy="291465"/>
          </a:xfrm>
          <a:prstGeom prst="line">
            <a:avLst/>
          </a:prstGeom>
          <a:noFill/>
          <a:ln w="38100">
            <a:solidFill>
              <a:srgbClr val="0B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6160" y="3746500"/>
            <a:ext cx="10663631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a GitHub Actions jsou zatím jen záměr.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5808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DriveWise AI · Architektura ·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Architektura DriveWise AI</dc:title>
  <dc:subject>PptxGenJS Presentation</dc:subject>
  <dc:creator>PptxGenJS</dc:creator>
  <cp:lastModifiedBy>PptxGenJS</cp:lastModifiedBy>
  <cp:revision>1</cp:revision>
  <dcterms:created xsi:type="dcterms:W3CDTF">2026-09-20T19:41:10Z</dcterms:created>
  <dcterms:modified xsi:type="dcterms:W3CDTF">2026-09-20T19:41:10Z</dcterms:modified>
</cp:coreProperties>
</file>